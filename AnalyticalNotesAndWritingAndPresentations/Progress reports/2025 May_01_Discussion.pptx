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6" r:id="rId4"/>
    <p:sldId id="268" r:id="rId5"/>
    <p:sldId id="259" r:id="rId6"/>
    <p:sldId id="269" r:id="rId7"/>
    <p:sldId id="270" r:id="rId8"/>
    <p:sldId id="273" r:id="rId9"/>
    <p:sldId id="260" r:id="rId10"/>
    <p:sldId id="274" r:id="rId11"/>
    <p:sldId id="275" r:id="rId12"/>
    <p:sldId id="272" r:id="rId13"/>
    <p:sldId id="276" r:id="rId14"/>
    <p:sldId id="277" r:id="rId15"/>
    <p:sldId id="261" r:id="rId16"/>
    <p:sldId id="262" r:id="rId17"/>
    <p:sldId id="263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jVn8mPSx/aTw3jscTe6Qmh6Ya4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A882BC2-12C2-47DE-AB68-3603F239A5B8}">
  <a:tblStyle styleId="{AA882BC2-12C2-47DE-AB68-3603F239A5B8}" styleName="Table_0">
    <a:wholeTbl>
      <a:tcTxStyle b="off" i="off">
        <a:font>
          <a:latin typeface="Tenorite"/>
          <a:ea typeface="Tenorite"/>
          <a:cs typeface="Tenorite"/>
        </a:font>
        <a:schemeClr val="dk1"/>
      </a:tcTxStyle>
      <a:tcStyle>
        <a:tcBdr>
          <a:left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/>
      <a:tcStyle>
        <a:tcBdr/>
      </a:tcStyle>
    </a:band2H>
    <a:band1V>
      <a:tcTxStyle/>
      <a:tcStyle>
        <a:tcBdr>
          <a:left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/>
      <a:tcStyle>
        <a:tcBdr>
          <a:left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enorite"/>
          <a:ea typeface="Tenorite"/>
          <a:cs typeface="Tenorite"/>
        </a:font>
        <a:schemeClr val="lt1"/>
      </a:tcTxStyle>
      <a:tcStyle>
        <a:tcBdr/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027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4252FC37-DD1D-0D92-1EA0-2771E0303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42142C16-4C00-423D-E281-6ADB83507B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701CE7D5-7515-04D3-3E66-2CF7C2EF22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4553F909-C6F4-242D-BDC6-FEAA99F1BF1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16053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5601FB32-1F8C-D207-F4B5-AB2B5BE21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EED02361-EBD0-8F64-F1A4-AF0833C1CB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83FEF84F-A178-A6AB-9B09-8AB4C3932B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6B97F9F1-2394-29A8-5AFC-20AF5855B6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02266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3EE3464D-2CAB-7501-2011-9701193B1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ACB5A84B-2659-C47F-56B4-812890E9A6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CCD5F977-CA2A-1B8E-1EA8-423A86D14E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6FD6ECAC-3E5A-3BF6-0C37-FB8A04476E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36433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A4D92BB0-0668-620C-DA31-B76FE5135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A5A6EF87-B5A9-0042-951B-4E56483F25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A31F67FA-1CE4-B158-8E85-02EA0B28DE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709222EC-F5C3-F8B3-E2D3-82325C54F2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96214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7B84B306-9EE5-7D09-4226-EAD4C099E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848FAAD1-F1C7-15A6-A61F-50DEBDE2C5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DE911EDF-0207-5BCC-4282-5020051CEE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59A64393-8FBE-4615-8DE2-2E4B038EEF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82431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F44BEAAA-7A9A-FAEC-E104-7A94CAAC7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B04B11FF-4DA9-2394-5183-D6BA473080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06D0636F-9FE6-D688-A659-EF5AD7F21C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9F462660-D540-E2F5-615A-5340CB042D3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38960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AB5F551C-DE6C-2C61-5191-005D4EA69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40F08E56-01FB-7EF4-2358-50BA6209C8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33A24834-25E7-9E0A-26EF-F3FCE14E87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89630F2F-8E0F-7901-2F5B-B08F9CFA5B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35487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330F646D-7736-CCA8-78D5-851E07139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>
            <a:extLst>
              <a:ext uri="{FF2B5EF4-FFF2-40B4-BE49-F238E27FC236}">
                <a16:creationId xmlns:a16="http://schemas.microsoft.com/office/drawing/2014/main" id="{FADB2140-BD1A-E7E7-CD28-6371F3FD1A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>
            <a:extLst>
              <a:ext uri="{FF2B5EF4-FFF2-40B4-BE49-F238E27FC236}">
                <a16:creationId xmlns:a16="http://schemas.microsoft.com/office/drawing/2014/main" id="{5A3218BA-5E1C-057B-9D9D-EE793BC7A7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>
            <a:extLst>
              <a:ext uri="{FF2B5EF4-FFF2-40B4-BE49-F238E27FC236}">
                <a16:creationId xmlns:a16="http://schemas.microsoft.com/office/drawing/2014/main" id="{C22009CA-14EE-B678-5580-9307B8B8A9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158008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89DA334C-4CD4-5BCF-BADF-FD477DE09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>
            <a:extLst>
              <a:ext uri="{FF2B5EF4-FFF2-40B4-BE49-F238E27FC236}">
                <a16:creationId xmlns:a16="http://schemas.microsoft.com/office/drawing/2014/main" id="{464A7A98-AD6D-6A9A-DA89-DB7B7C0060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2:notes">
            <a:extLst>
              <a:ext uri="{FF2B5EF4-FFF2-40B4-BE49-F238E27FC236}">
                <a16:creationId xmlns:a16="http://schemas.microsoft.com/office/drawing/2014/main" id="{177F3B80-AF41-33EC-F6B4-FB43C5A233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9312FDEA-BF33-A041-C2D0-E480E0B81B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84328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0F03FE9E-2DA7-9915-809B-6A225E232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>
            <a:extLst>
              <a:ext uri="{FF2B5EF4-FFF2-40B4-BE49-F238E27FC236}">
                <a16:creationId xmlns:a16="http://schemas.microsoft.com/office/drawing/2014/main" id="{BA3A5A7A-BFDD-54E4-B9A9-0A37D5BC1F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>
            <a:extLst>
              <a:ext uri="{FF2B5EF4-FFF2-40B4-BE49-F238E27FC236}">
                <a16:creationId xmlns:a16="http://schemas.microsoft.com/office/drawing/2014/main" id="{F2FC4EDD-0DC6-32E1-9515-45C0F10449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>
            <a:extLst>
              <a:ext uri="{FF2B5EF4-FFF2-40B4-BE49-F238E27FC236}">
                <a16:creationId xmlns:a16="http://schemas.microsoft.com/office/drawing/2014/main" id="{3F0ED4E4-7600-7CE8-756F-B0B4697788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44385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" name="Google Shape;17;p10"/>
          <p:cNvPicPr preferRelativeResize="0"/>
          <p:nvPr/>
        </p:nvPicPr>
        <p:blipFill rotWithShape="1">
          <a:blip r:embed="rId2">
            <a:alphaModFix/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2">
  <p:cSld name="Table 2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11"/>
          <p:cNvGrpSpPr/>
          <p:nvPr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20" name="Google Shape;20;p11"/>
            <p:cNvCxnSpPr/>
            <p:nvPr/>
          </p:nvCxnSpPr>
          <p:spPr>
            <a:xfrm rot="10800000" flipH="1">
              <a:off x="0" y="0"/>
              <a:ext cx="2590800" cy="76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" name="Google Shape;21;p11"/>
            <p:cNvCxnSpPr/>
            <p:nvPr/>
          </p:nvCxnSpPr>
          <p:spPr>
            <a:xfrm flipH="1">
              <a:off x="0" y="0"/>
              <a:ext cx="704850" cy="102790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2" name="Google Shape;22;p11"/>
          <p:cNvSpPr txBox="1"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ftr" idx="11"/>
          </p:nvPr>
        </p:nvSpPr>
        <p:spPr>
          <a:xfrm>
            <a:off x="838200" y="6356349"/>
            <a:ext cx="38192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sldNum" idx="12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>
  <p:cSld name="Introduction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body" idx="1"/>
          </p:nvPr>
        </p:nvSpPr>
        <p:spPr>
          <a:xfrm>
            <a:off x="1322388" y="2763078"/>
            <a:ext cx="7288212" cy="340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28" name="Google Shape;28;p12"/>
          <p:cNvGrpSpPr/>
          <p:nvPr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29" name="Google Shape;29;p12"/>
            <p:cNvCxnSpPr/>
            <p:nvPr/>
          </p:nvCxnSpPr>
          <p:spPr>
            <a:xfrm>
              <a:off x="9096375" y="1497012"/>
              <a:ext cx="3095625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0" name="Google Shape;30;p12"/>
            <p:cNvCxnSpPr/>
            <p:nvPr/>
          </p:nvCxnSpPr>
          <p:spPr>
            <a:xfrm flipH="1">
              <a:off x="9381744" y="-25401"/>
              <a:ext cx="2810256" cy="688340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cxnSp>
        <p:nvCxnSpPr>
          <p:cNvPr id="31" name="Google Shape;31;p12"/>
          <p:cNvCxnSpPr/>
          <p:nvPr/>
        </p:nvCxnSpPr>
        <p:spPr>
          <a:xfrm rot="10800000" flipH="1">
            <a:off x="-1" y="-25403"/>
            <a:ext cx="1210573" cy="204816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" name="Google Shape;32;p12"/>
          <p:cNvSpPr txBox="1">
            <a:spLocks noGrp="1"/>
          </p:cNvSpPr>
          <p:nvPr>
            <p:ph type="ftr" idx="11"/>
          </p:nvPr>
        </p:nvSpPr>
        <p:spPr>
          <a:xfrm>
            <a:off x="1333500" y="6356349"/>
            <a:ext cx="38192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sldNum" idx="12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1">
  <p:cSld name="Section Break 1">
    <p:bg>
      <p:bgPr>
        <a:solidFill>
          <a:schemeClr val="accent1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"/>
          <p:cNvSpPr txBox="1"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6" name="Google Shape;36;p13"/>
          <p:cNvGrpSpPr/>
          <p:nvPr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37" name="Google Shape;37;p13"/>
            <p:cNvCxnSpPr/>
            <p:nvPr/>
          </p:nvCxnSpPr>
          <p:spPr>
            <a:xfrm rot="10800000">
              <a:off x="0" y="876300"/>
              <a:ext cx="4762500" cy="162877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8" name="Google Shape;38;p13"/>
            <p:cNvCxnSpPr/>
            <p:nvPr/>
          </p:nvCxnSpPr>
          <p:spPr>
            <a:xfrm rot="10800000">
              <a:off x="2638425" y="0"/>
              <a:ext cx="2124076" cy="5186363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1">
  <p:cSld name="Two Content 1">
    <p:bg>
      <p:bgPr>
        <a:solidFill>
          <a:schemeClr val="accen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14"/>
          <p:cNvPicPr preferRelativeResize="0"/>
          <p:nvPr/>
        </p:nvPicPr>
        <p:blipFill rotWithShape="1">
          <a:blip r:embed="rId2">
            <a:alphaModFix/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4"/>
          <p:cNvSpPr txBox="1"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body" idx="1"/>
          </p:nvPr>
        </p:nvSpPr>
        <p:spPr>
          <a:xfrm>
            <a:off x="2933700" y="2797255"/>
            <a:ext cx="3924300" cy="464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body" idx="2"/>
          </p:nvPr>
        </p:nvSpPr>
        <p:spPr>
          <a:xfrm>
            <a:off x="2933700" y="3251596"/>
            <a:ext cx="3943627" cy="3234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body" idx="3"/>
          </p:nvPr>
        </p:nvSpPr>
        <p:spPr>
          <a:xfrm>
            <a:off x="7410173" y="2797255"/>
            <a:ext cx="3943627" cy="464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4"/>
          </p:nvPr>
        </p:nvSpPr>
        <p:spPr>
          <a:xfrm>
            <a:off x="7410173" y="3251595"/>
            <a:ext cx="3943627" cy="3234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ftr" idx="11"/>
          </p:nvPr>
        </p:nvSpPr>
        <p:spPr>
          <a:xfrm>
            <a:off x="2969260" y="6356349"/>
            <a:ext cx="38192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sldNum" idx="12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" type="title">
  <p:cSld name="TITLE">
    <p:bg>
      <p:bgPr>
        <a:solidFill>
          <a:schemeClr val="dk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850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51" name="Google Shape;5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17693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4267200" y="6356350"/>
            <a:ext cx="417957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9579428" y="6356350"/>
            <a:ext cx="17743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type="obj">
  <p:cSld name="OBJECT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6"/>
          <p:cNvPicPr preferRelativeResize="0"/>
          <p:nvPr/>
        </p:nvPicPr>
        <p:blipFill rotWithShape="1">
          <a:blip r:embed="rId2">
            <a:alphaModFix/>
          </a:blip>
          <a:srcRect t="18301" r="28340" b="23070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6"/>
          <p:cNvSpPr txBox="1"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1"/>
          </p:nvPr>
        </p:nvSpPr>
        <p:spPr>
          <a:xfrm>
            <a:off x="1333500" y="2674013"/>
            <a:ext cx="2895600" cy="326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ftr" idx="11"/>
          </p:nvPr>
        </p:nvSpPr>
        <p:spPr>
          <a:xfrm>
            <a:off x="1333500" y="6356349"/>
            <a:ext cx="38192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sldNum" idx="12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2">
  <p:cSld name="Section Break 2">
    <p:bg>
      <p:bgPr>
        <a:solidFill>
          <a:schemeClr val="dk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>
            <a:spLocks noGrp="1"/>
          </p:cNvSpPr>
          <p:nvPr>
            <p:ph type="ctrTitle"/>
          </p:nvPr>
        </p:nvSpPr>
        <p:spPr>
          <a:xfrm>
            <a:off x="6991350" y="487680"/>
            <a:ext cx="4179570" cy="3376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62" name="Google Shape;62;p17"/>
          <p:cNvCxnSpPr/>
          <p:nvPr/>
        </p:nvCxnSpPr>
        <p:spPr>
          <a:xfrm>
            <a:off x="3990667" y="0"/>
            <a:ext cx="1126278" cy="2512291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3" name="Google Shape;63;p17"/>
          <p:cNvSpPr>
            <a:spLocks noGrp="1"/>
          </p:cNvSpPr>
          <p:nvPr>
            <p:ph type="pic" idx="2"/>
          </p:nvPr>
        </p:nvSpPr>
        <p:spPr>
          <a:xfrm>
            <a:off x="0" y="-5080"/>
            <a:ext cx="6576291" cy="687260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3">
  <p:cSld name="Section Break 3">
    <p:bg>
      <p:bgPr>
        <a:solidFill>
          <a:schemeClr val="dk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 txBox="1">
            <a:spLocks noGrp="1"/>
          </p:cNvSpPr>
          <p:nvPr>
            <p:ph type="ctrTitle"/>
          </p:nvPr>
        </p:nvSpPr>
        <p:spPr>
          <a:xfrm>
            <a:off x="6991350" y="406400"/>
            <a:ext cx="4179570" cy="3457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6" name="Google Shape;66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828675"/>
            <a:ext cx="5876925" cy="520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2">
  <p:cSld name="Two Content 2">
    <p:bg>
      <p:bgPr>
        <a:solidFill>
          <a:schemeClr val="lt1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9" name="Google Shape;69;p19"/>
          <p:cNvGrpSpPr/>
          <p:nvPr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70" name="Google Shape;70;p19"/>
            <p:cNvCxnSpPr/>
            <p:nvPr/>
          </p:nvCxnSpPr>
          <p:spPr>
            <a:xfrm rot="10800000">
              <a:off x="7334250" y="0"/>
              <a:ext cx="4857750" cy="76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1" name="Google Shape;71;p19"/>
            <p:cNvCxnSpPr/>
            <p:nvPr/>
          </p:nvCxnSpPr>
          <p:spPr>
            <a:xfrm>
              <a:off x="11487150" y="0"/>
              <a:ext cx="704850" cy="172402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72" name="Google Shape;72;p19"/>
          <p:cNvSpPr txBox="1">
            <a:spLocks noGrp="1"/>
          </p:cNvSpPr>
          <p:nvPr>
            <p:ph type="body" idx="1"/>
          </p:nvPr>
        </p:nvSpPr>
        <p:spPr>
          <a:xfrm>
            <a:off x="1341120" y="2960877"/>
            <a:ext cx="2722880" cy="351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body" idx="2"/>
          </p:nvPr>
        </p:nvSpPr>
        <p:spPr>
          <a:xfrm>
            <a:off x="1341120" y="3392035"/>
            <a:ext cx="2722880" cy="2907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 sz="1800" b="0"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LcPeriod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arenR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LcParenR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romanLcPeriod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3"/>
          </p:nvPr>
        </p:nvSpPr>
        <p:spPr>
          <a:xfrm>
            <a:off x="4754881" y="2960877"/>
            <a:ext cx="5516880" cy="351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4"/>
          </p:nvPr>
        </p:nvSpPr>
        <p:spPr>
          <a:xfrm>
            <a:off x="4754881" y="3324859"/>
            <a:ext cx="5506720" cy="3031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>
          <a:xfrm>
            <a:off x="1333500" y="6356349"/>
            <a:ext cx="38192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">
  <p:cSld name="Summar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Google Shape;79;p20"/>
          <p:cNvCxnSpPr/>
          <p:nvPr/>
        </p:nvCxnSpPr>
        <p:spPr>
          <a:xfrm rot="10800000">
            <a:off x="3094182" y="0"/>
            <a:ext cx="1745673" cy="389774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0" name="Google Shape;80;p20"/>
          <p:cNvSpPr txBox="1">
            <a:spLocks noGrp="1"/>
          </p:cNvSpPr>
          <p:nvPr>
            <p:ph type="title"/>
          </p:nvPr>
        </p:nvSpPr>
        <p:spPr>
          <a:xfrm>
            <a:off x="5476874" y="1671639"/>
            <a:ext cx="5884027" cy="1204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0"/>
          <p:cNvSpPr>
            <a:spLocks noGrp="1"/>
          </p:cNvSpPr>
          <p:nvPr>
            <p:ph type="pic" idx="2"/>
          </p:nvPr>
        </p:nvSpPr>
        <p:spPr>
          <a:xfrm>
            <a:off x="-28230" y="-9144"/>
            <a:ext cx="5481955" cy="6876288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20"/>
          <p:cNvSpPr txBox="1">
            <a:spLocks noGrp="1"/>
          </p:cNvSpPr>
          <p:nvPr>
            <p:ph type="ftr" idx="11"/>
          </p:nvPr>
        </p:nvSpPr>
        <p:spPr>
          <a:xfrm>
            <a:off x="825500" y="6356349"/>
            <a:ext cx="38192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sldNum" idx="12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body" idx="1"/>
          </p:nvPr>
        </p:nvSpPr>
        <p:spPr>
          <a:xfrm>
            <a:off x="5453725" y="3660774"/>
            <a:ext cx="5907176" cy="2536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1">
  <p:cSld name="Table 1">
    <p:bg>
      <p:bgPr>
        <a:solidFill>
          <a:schemeClr val="l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>
            <a:spLocks noGrp="1"/>
          </p:cNvSpPr>
          <p:nvPr>
            <p:ph type="title"/>
          </p:nvPr>
        </p:nvSpPr>
        <p:spPr>
          <a:xfrm>
            <a:off x="838201" y="895350"/>
            <a:ext cx="3247662" cy="19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body" idx="1"/>
          </p:nvPr>
        </p:nvSpPr>
        <p:spPr>
          <a:xfrm>
            <a:off x="838200" y="2813049"/>
            <a:ext cx="3247662" cy="32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ftr" idx="11"/>
          </p:nvPr>
        </p:nvSpPr>
        <p:spPr>
          <a:xfrm>
            <a:off x="731615" y="6356349"/>
            <a:ext cx="38192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1"/>
          <p:cNvSpPr txBox="1">
            <a:spLocks noGrp="1"/>
          </p:cNvSpPr>
          <p:nvPr>
            <p:ph type="sldNum" idx="12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0" name="Google Shape;90;p21"/>
          <p:cNvGrpSpPr/>
          <p:nvPr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91" name="Google Shape;91;p21"/>
            <p:cNvCxnSpPr/>
            <p:nvPr/>
          </p:nvCxnSpPr>
          <p:spPr>
            <a:xfrm flipH="1">
              <a:off x="0" y="0"/>
              <a:ext cx="1238250" cy="310515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2" name="Google Shape;92;p21"/>
            <p:cNvCxnSpPr/>
            <p:nvPr/>
          </p:nvCxnSpPr>
          <p:spPr>
            <a:xfrm flipH="1">
              <a:off x="0" y="0"/>
              <a:ext cx="2238376" cy="2476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bg>
      <p:bgPr>
        <a:solidFill>
          <a:schemeClr val="accen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>
            <a:spLocks noGrp="1"/>
          </p:cNvSpPr>
          <p:nvPr>
            <p:ph type="title"/>
          </p:nvPr>
        </p:nvSpPr>
        <p:spPr>
          <a:xfrm>
            <a:off x="838200" y="337192"/>
            <a:ext cx="5655197" cy="1997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body" idx="1"/>
          </p:nvPr>
        </p:nvSpPr>
        <p:spPr>
          <a:xfrm>
            <a:off x="838200" y="2705177"/>
            <a:ext cx="5733772" cy="448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body" idx="2"/>
          </p:nvPr>
        </p:nvSpPr>
        <p:spPr>
          <a:xfrm>
            <a:off x="838199" y="3154166"/>
            <a:ext cx="5733773" cy="3032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body" idx="3"/>
          </p:nvPr>
        </p:nvSpPr>
        <p:spPr>
          <a:xfrm>
            <a:off x="7887108" y="2705177"/>
            <a:ext cx="3943627" cy="448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8" name="Google Shape;98;p22"/>
          <p:cNvSpPr txBox="1">
            <a:spLocks noGrp="1"/>
          </p:cNvSpPr>
          <p:nvPr>
            <p:ph type="body" idx="4"/>
          </p:nvPr>
        </p:nvSpPr>
        <p:spPr>
          <a:xfrm>
            <a:off x="7887107" y="3164867"/>
            <a:ext cx="3943627" cy="3032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2"/>
          <p:cNvSpPr txBox="1">
            <a:spLocks noGrp="1"/>
          </p:cNvSpPr>
          <p:nvPr>
            <p:ph type="ftr" idx="11"/>
          </p:nvPr>
        </p:nvSpPr>
        <p:spPr>
          <a:xfrm>
            <a:off x="843986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22"/>
          <p:cNvPicPr preferRelativeResize="0"/>
          <p:nvPr/>
        </p:nvPicPr>
        <p:blipFill rotWithShape="1">
          <a:blip r:embed="rId2">
            <a:alphaModFix/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sf.gov/funding/opportunities/computer-information-science-engineering-core-programs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nsf.gov/funding/opportunities/hnds-human-networks-data-science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/>
          <p:cNvSpPr txBox="1"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DISCUSSION 2025 MAY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 txBox="1"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r>
              <a:rPr lang="en-US" sz="2400" dirty="0"/>
              <a:t>Revision history</a:t>
            </a:r>
            <a:endParaRPr sz="2400" dirty="0"/>
          </a:p>
        </p:txBody>
      </p:sp>
      <p:graphicFrame>
        <p:nvGraphicFramePr>
          <p:cNvPr id="114" name="Google Shape;114;p2"/>
          <p:cNvGraphicFramePr/>
          <p:nvPr>
            <p:extLst>
              <p:ext uri="{D42A27DB-BD31-4B8C-83A1-F6EECF244321}">
                <p14:modId xmlns:p14="http://schemas.microsoft.com/office/powerpoint/2010/main" val="2184581719"/>
              </p:ext>
            </p:extLst>
          </p:nvPr>
        </p:nvGraphicFramePr>
        <p:xfrm>
          <a:off x="838199" y="2111375"/>
          <a:ext cx="10389425" cy="4459650"/>
        </p:xfrm>
        <a:graphic>
          <a:graphicData uri="http://schemas.openxmlformats.org/drawingml/2006/table">
            <a:tbl>
              <a:tblPr firstRow="1" bandRow="1">
                <a:noFill/>
                <a:tableStyleId>{AA882BC2-12C2-47DE-AB68-3603F239A5B8}</a:tableStyleId>
              </a:tblPr>
              <a:tblGrid>
                <a:gridCol w="228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3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/>
                        <a:t>Updated date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/>
                        <a:t>Note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2025.04.30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Initial discussion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sngStrike" cap="none"/>
                        <a:t>2025.05.01</a:t>
                      </a:r>
                      <a:endParaRPr strike="sngStrik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sngStrike" cap="none" dirty="0"/>
                        <a:t>Potential NSF calls info (only info collection)</a:t>
                      </a:r>
                      <a:endParaRPr strike="sngStrik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2025.05.02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About the project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0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2025.05.0</a:t>
                      </a:r>
                      <a:r>
                        <a:rPr lang="en-US" altLang="zh-TW" sz="1800" u="none" strike="noStrike" cap="none" dirty="0"/>
                        <a:t>9</a:t>
                      </a:r>
                      <a:endParaRPr lang="en-US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Potential tracks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0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1800" b="0" i="0" u="none" strike="noStrike" cap="none" dirty="0">
                          <a:solidFill>
                            <a:schemeClr val="dk1"/>
                          </a:solidFill>
                          <a:latin typeface="Tenorite"/>
                          <a:sym typeface="Arial"/>
                        </a:rPr>
                        <a:t>2025.05.11</a:t>
                      </a:r>
                      <a:endParaRPr lang="en-US" sz="1800" b="0" i="0" u="none" strike="noStrike" cap="none" dirty="0">
                        <a:solidFill>
                          <a:schemeClr val="dk1"/>
                        </a:solidFill>
                        <a:latin typeface="Tenorite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Potential methods and initial plans</a:t>
                      </a:r>
                      <a:endParaRPr lang="en-US" sz="1800" b="0" i="0" u="none" strike="noStrike" cap="none" dirty="0">
                        <a:solidFill>
                          <a:schemeClr val="dk1"/>
                        </a:solidFill>
                        <a:latin typeface="Tenorite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2350795175"/>
                  </a:ext>
                </a:extLst>
              </a:tr>
              <a:tr h="710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latin typeface="Tenorite"/>
                          <a:sym typeface="Arial"/>
                        </a:rPr>
                        <a:t>2025.05.11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latin typeface="Tenorite"/>
                          <a:sym typeface="Arial"/>
                        </a:rPr>
                        <a:t>Potential early venues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674555125"/>
                  </a:ext>
                </a:extLst>
              </a:tr>
            </a:tbl>
          </a:graphicData>
        </a:graphic>
      </p:graphicFrame>
      <p:sp>
        <p:nvSpPr>
          <p:cNvPr id="115" name="Google Shape;115;p2"/>
          <p:cNvSpPr txBox="1">
            <a:spLocks noGrp="1"/>
          </p:cNvSpPr>
          <p:nvPr>
            <p:ph type="sldNum" idx="12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C68159B9-DA1A-DC37-1434-45AA67EC7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>
            <a:extLst>
              <a:ext uri="{FF2B5EF4-FFF2-40B4-BE49-F238E27FC236}">
                <a16:creationId xmlns:a16="http://schemas.microsoft.com/office/drawing/2014/main" id="{236C278E-F8F6-E7C9-0F63-C4E8EF3D2E3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7" name="Google Shape;121;p3">
            <a:extLst>
              <a:ext uri="{FF2B5EF4-FFF2-40B4-BE49-F238E27FC236}">
                <a16:creationId xmlns:a16="http://schemas.microsoft.com/office/drawing/2014/main" id="{502F208B-C310-07CE-B585-54F8C54F44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dirty="0"/>
              <a:t>Understanding of Lab Project &amp; My Framing</a:t>
            </a:r>
            <a:r>
              <a:rPr lang="zh-TW" altLang="en-US" dirty="0"/>
              <a:t> </a:t>
            </a:r>
            <a:r>
              <a:rPr lang="en-US" dirty="0"/>
              <a:t>(1/2)</a:t>
            </a:r>
            <a:endParaRPr dirty="0"/>
          </a:p>
        </p:txBody>
      </p:sp>
      <p:sp>
        <p:nvSpPr>
          <p:cNvPr id="8" name="Google Shape;122;p3">
            <a:extLst>
              <a:ext uri="{FF2B5EF4-FFF2-40B4-BE49-F238E27FC236}">
                <a16:creationId xmlns:a16="http://schemas.microsoft.com/office/drawing/2014/main" id="{0324DD19-7C39-0C49-CEAA-083E117DA3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22388" y="2763078"/>
            <a:ext cx="10107612" cy="340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-US" b="1" dirty="0"/>
              <a:t>Topic: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endParaRPr lang="en-US"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-US" sz="1600" b="0" dirty="0"/>
              <a:t>Mining and Modeling Patient-Provider Communication Through Annotated Text Data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-US" b="1" dirty="0"/>
              <a:t>Objective (Lab-wide):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endParaRPr lang="en-US" b="1"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b="0" dirty="0"/>
              <a:t>Define and refine a </a:t>
            </a:r>
            <a:r>
              <a:rPr lang="en-US" sz="1600" b="1" dirty="0"/>
              <a:t>nested CODE schema </a:t>
            </a:r>
            <a:r>
              <a:rPr lang="en-US" sz="1600" b="0" dirty="0"/>
              <a:t>(categories and subcategories) for patient-provider messaging.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endParaRPr lang="en-US" sz="1600" b="0"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b="0" dirty="0"/>
              <a:t>Develop and compare </a:t>
            </a:r>
            <a:r>
              <a:rPr lang="en-US" sz="1600" b="1" dirty="0"/>
              <a:t>automated annotation methods </a:t>
            </a:r>
            <a:r>
              <a:rPr lang="en-US" sz="1600" b="0" dirty="0"/>
              <a:t>(LLM, BERT, others) to support scalable labeling.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endParaRPr lang="en-US" sz="1600" b="0"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b="0" dirty="0"/>
              <a:t>Use the resulting system to understand communication patterns, patient values, and outcomes.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11C5EF-9053-94BB-FA6B-0A8BC298F859}"/>
              </a:ext>
            </a:extLst>
          </p:cNvPr>
          <p:cNvSpPr txBox="1"/>
          <p:nvPr/>
        </p:nvSpPr>
        <p:spPr>
          <a:xfrm>
            <a:off x="1150868" y="6538911"/>
            <a:ext cx="103434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/>
              <a:t>💡 </a:t>
            </a:r>
            <a:r>
              <a:rPr lang="en-US" sz="1200" dirty="0"/>
              <a:t>Prepared based on Week 1 discussions to ensure alignment and clarify where my own methods may contribute uniquely.</a:t>
            </a:r>
          </a:p>
        </p:txBody>
      </p:sp>
    </p:spTree>
    <p:extLst>
      <p:ext uri="{BB962C8B-B14F-4D97-AF65-F5344CB8AC3E}">
        <p14:creationId xmlns:p14="http://schemas.microsoft.com/office/powerpoint/2010/main" val="2381600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7D236707-C4EB-EA06-4DB2-68EE26F1E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>
            <a:extLst>
              <a:ext uri="{FF2B5EF4-FFF2-40B4-BE49-F238E27FC236}">
                <a16:creationId xmlns:a16="http://schemas.microsoft.com/office/drawing/2014/main" id="{5F2E3317-77AF-F69A-A6E5-78AC5B6CEB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7" name="Google Shape;121;p3">
            <a:extLst>
              <a:ext uri="{FF2B5EF4-FFF2-40B4-BE49-F238E27FC236}">
                <a16:creationId xmlns:a16="http://schemas.microsoft.com/office/drawing/2014/main" id="{6C05904E-F947-95CD-1636-D8BC4C5B73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>
              <a:buSzPts val="2800"/>
            </a:pPr>
            <a:r>
              <a:rPr lang="en-US" dirty="0"/>
              <a:t>Understanding of Lab Project &amp; My Framing</a:t>
            </a:r>
            <a:r>
              <a:rPr lang="zh-TW" altLang="en-US" dirty="0"/>
              <a:t> </a:t>
            </a:r>
            <a:r>
              <a:rPr lang="en-US" dirty="0"/>
              <a:t>(</a:t>
            </a:r>
            <a:r>
              <a:rPr lang="en-US" altLang="zh-TW" dirty="0"/>
              <a:t>2</a:t>
            </a:r>
            <a:r>
              <a:rPr lang="en-US" dirty="0"/>
              <a:t>/2)</a:t>
            </a:r>
            <a:endParaRPr dirty="0"/>
          </a:p>
        </p:txBody>
      </p:sp>
      <p:sp>
        <p:nvSpPr>
          <p:cNvPr id="8" name="Google Shape;122;p3">
            <a:extLst>
              <a:ext uri="{FF2B5EF4-FFF2-40B4-BE49-F238E27FC236}">
                <a16:creationId xmlns:a16="http://schemas.microsoft.com/office/drawing/2014/main" id="{89832626-4D75-8209-319B-9BD7C4F423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22388" y="2763078"/>
            <a:ext cx="10107612" cy="340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buSzPts val="1600"/>
            </a:pPr>
            <a:r>
              <a:rPr lang="en-US" b="1" dirty="0"/>
              <a:t>Observed Research Questions</a:t>
            </a:r>
          </a:p>
          <a:p>
            <a:pPr marL="0" indent="0">
              <a:spcBef>
                <a:spcPts val="0"/>
              </a:spcBef>
              <a:buSzPts val="1600"/>
            </a:pPr>
            <a:endParaRPr lang="en-US" b="1" dirty="0"/>
          </a:p>
          <a:p>
            <a:pPr marL="285750" indent="-285750">
              <a:spcBef>
                <a:spcPts val="0"/>
              </a:spcBef>
              <a:buSzPts val="1600"/>
              <a:buFont typeface="Arial" panose="020B0604020202020204" pitchFamily="34" charset="0"/>
              <a:buChar char="•"/>
            </a:pPr>
            <a:r>
              <a:rPr lang="en-US" sz="1600" dirty="0"/>
              <a:t>How can we define a taxonomy of communication intents and values from unstructured text?</a:t>
            </a:r>
          </a:p>
          <a:p>
            <a:pPr marL="285750" indent="-285750">
              <a:spcBef>
                <a:spcPts val="0"/>
              </a:spcBef>
              <a:buSzPts val="1600"/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spcBef>
                <a:spcPts val="0"/>
              </a:spcBef>
              <a:buSzPts val="1600"/>
              <a:buFont typeface="Arial" panose="020B0604020202020204" pitchFamily="34" charset="0"/>
              <a:buChar char="•"/>
            </a:pPr>
            <a:r>
              <a:rPr lang="en-US" sz="1600" dirty="0"/>
              <a:t>What methods are most effective for automating annotation: LLMs, BERT, topic modeling, etc.?</a:t>
            </a:r>
          </a:p>
          <a:p>
            <a:pPr marL="285750" indent="-285750">
              <a:spcBef>
                <a:spcPts val="0"/>
              </a:spcBef>
              <a:buSzPts val="1600"/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spcBef>
                <a:spcPts val="0"/>
              </a:spcBef>
              <a:buSzPts val="1600"/>
              <a:buFont typeface="Arial" panose="020B0604020202020204" pitchFamily="34" charset="0"/>
              <a:buChar char="•"/>
            </a:pPr>
            <a:r>
              <a:rPr lang="en-US" sz="1600" dirty="0"/>
              <a:t>Can we support flexible annotation (merging, splitting CODEs) over time?</a:t>
            </a:r>
          </a:p>
          <a:p>
            <a:pPr marL="285750" indent="-285750">
              <a:spcBef>
                <a:spcPts val="0"/>
              </a:spcBef>
              <a:buSzPts val="1600"/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spcBef>
                <a:spcPts val="0"/>
              </a:spcBef>
              <a:buSzPts val="1600"/>
              <a:buFont typeface="Arial" panose="020B0604020202020204" pitchFamily="34" charset="0"/>
              <a:buChar char="•"/>
            </a:pPr>
            <a:r>
              <a:rPr lang="en-US" sz="1600" dirty="0"/>
              <a:t>How do different modeling approaches compare in accuracy and interpretability?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FB40D5-B9E5-1C53-8805-EC5AA4ADAFCC}"/>
              </a:ext>
            </a:extLst>
          </p:cNvPr>
          <p:cNvSpPr txBox="1"/>
          <p:nvPr/>
        </p:nvSpPr>
        <p:spPr>
          <a:xfrm>
            <a:off x="1150868" y="6538911"/>
            <a:ext cx="103434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/>
              <a:t>💡 </a:t>
            </a:r>
            <a:r>
              <a:rPr lang="en-US" sz="1200" dirty="0"/>
              <a:t>Prepared based on Week 1 discussions to ensure alignment and clarify where my own methods may contribute uniquely.</a:t>
            </a:r>
          </a:p>
        </p:txBody>
      </p:sp>
    </p:spTree>
    <p:extLst>
      <p:ext uri="{BB962C8B-B14F-4D97-AF65-F5344CB8AC3E}">
        <p14:creationId xmlns:p14="http://schemas.microsoft.com/office/powerpoint/2010/main" val="999828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dirty="0"/>
              <a:t>Potential tracks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47CD3022-DE13-2710-2017-78D591F6F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39B27673-6373-05D5-3471-6380D68C79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r>
              <a:rPr lang="en-US" sz="2400" dirty="0"/>
              <a:t>Motivation</a:t>
            </a: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A126575C-256F-D748-FA48-38C69CFF29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22388" y="2763078"/>
            <a:ext cx="9163232" cy="340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b="0" dirty="0"/>
              <a:t>Current CODE system has </a:t>
            </a:r>
            <a:r>
              <a:rPr lang="en-US" sz="1600" dirty="0"/>
              <a:t>nested categories</a:t>
            </a:r>
            <a:r>
              <a:rPr lang="en-US" sz="1600" b="0" dirty="0"/>
              <a:t> with semantic overlaps.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endParaRPr lang="en-US" sz="1600" b="0"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b="0" dirty="0"/>
              <a:t>Manual annotation is </a:t>
            </a:r>
            <a:r>
              <a:rPr lang="en-US" sz="1600" dirty="0"/>
              <a:t>time-consuming and rigid</a:t>
            </a:r>
            <a:r>
              <a:rPr lang="en-US" sz="1600" b="0" dirty="0"/>
              <a:t>, making automation difficult.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endParaRPr lang="en-US" sz="1600" b="0"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b="0" dirty="0"/>
              <a:t>Existing models (LLM, BERT) focus on accuracy but </a:t>
            </a:r>
            <a:r>
              <a:rPr lang="en-US" sz="1600" dirty="0"/>
              <a:t>lack reasoning structure</a:t>
            </a:r>
            <a:r>
              <a:rPr lang="en-US" sz="1600" b="0" dirty="0"/>
              <a:t>.</a:t>
            </a:r>
          </a:p>
        </p:txBody>
      </p:sp>
      <p:sp>
        <p:nvSpPr>
          <p:cNvPr id="123" name="Google Shape;123;p3">
            <a:extLst>
              <a:ext uri="{FF2B5EF4-FFF2-40B4-BE49-F238E27FC236}">
                <a16:creationId xmlns:a16="http://schemas.microsoft.com/office/drawing/2014/main" id="{C8C0221E-56BE-A779-AAE7-2A85BBBBB13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818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1B769272-1072-0EE1-7BF3-3B4FB7A0C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517F64DE-F2C5-376E-6864-64B428B448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dirty="0"/>
              <a:t>My Proposed Direction</a:t>
            </a: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6C78AD1A-26B7-95FA-FC50-2F1C11561E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22388" y="2763078"/>
            <a:ext cx="9163232" cy="340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-US" dirty="0"/>
              <a:t>Goal: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endParaRPr lang="en-US"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b="0" dirty="0"/>
              <a:t>Build a graph-based framework to support semantic annotation reasoning—from high-level intents to fine-grained subcategories.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endParaRPr lang="en-US" b="0"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endParaRPr lang="en-US" b="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-US" dirty="0"/>
              <a:t>Key Ideas: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endParaRPr lang="en-US"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b="0" dirty="0"/>
              <a:t>Represent sentences, CODEs, and their relations as a </a:t>
            </a:r>
            <a:r>
              <a:rPr lang="en-US" sz="1600" dirty="0"/>
              <a:t>knowledge graph.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b="0" dirty="0"/>
              <a:t>Apply </a:t>
            </a:r>
            <a:r>
              <a:rPr lang="en-US" sz="1600" dirty="0"/>
              <a:t>graph neural networks (GNNs) </a:t>
            </a:r>
            <a:r>
              <a:rPr lang="en-US" sz="1600" b="0" dirty="0"/>
              <a:t>or hybrid models for flexible classification.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endParaRPr lang="en-US" sz="1600" b="0"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b="0" dirty="0"/>
              <a:t>Explore </a:t>
            </a:r>
            <a:r>
              <a:rPr lang="en-US" sz="1600" dirty="0"/>
              <a:t>hierarchical decision layers </a:t>
            </a:r>
            <a:r>
              <a:rPr lang="en-US" sz="1600" b="0" dirty="0"/>
              <a:t>for CODE/sub-CODE structure.</a:t>
            </a:r>
          </a:p>
        </p:txBody>
      </p:sp>
      <p:sp>
        <p:nvSpPr>
          <p:cNvPr id="123" name="Google Shape;123;p3">
            <a:extLst>
              <a:ext uri="{FF2B5EF4-FFF2-40B4-BE49-F238E27FC236}">
                <a16:creationId xmlns:a16="http://schemas.microsoft.com/office/drawing/2014/main" id="{BA72E036-8FDB-6396-2C18-667815940D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29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85C5C6D7-7B2F-AE18-A49D-4F5EF073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>
            <a:extLst>
              <a:ext uri="{FF2B5EF4-FFF2-40B4-BE49-F238E27FC236}">
                <a16:creationId xmlns:a16="http://schemas.microsoft.com/office/drawing/2014/main" id="{1C0C27F5-CC8C-BF03-04C2-00F9ACD621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7" name="Google Shape;121;p3">
            <a:extLst>
              <a:ext uri="{FF2B5EF4-FFF2-40B4-BE49-F238E27FC236}">
                <a16:creationId xmlns:a16="http://schemas.microsoft.com/office/drawing/2014/main" id="{0D739B3A-D98E-F6BA-E6BD-16EF3BD7D8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dirty="0"/>
              <a:t>Why This Matters</a:t>
            </a:r>
            <a:endParaRPr dirty="0"/>
          </a:p>
        </p:txBody>
      </p:sp>
      <p:sp>
        <p:nvSpPr>
          <p:cNvPr id="8" name="Google Shape;122;p3">
            <a:extLst>
              <a:ext uri="{FF2B5EF4-FFF2-40B4-BE49-F238E27FC236}">
                <a16:creationId xmlns:a16="http://schemas.microsoft.com/office/drawing/2014/main" id="{57D995BF-CEB2-2FD0-D8C1-D4CFC808CA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22388" y="2763078"/>
            <a:ext cx="10107612" cy="340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600" b="0" dirty="0"/>
              <a:t>Novel method distinct from other team directions.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600" b="0" dirty="0"/>
              <a:t>Leverages my expertise in narrative modeling and graph-based reasoning.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US" b="0" dirty="0"/>
          </a:p>
          <a:p>
            <a:pPr marL="228600" indent="0"/>
            <a:r>
              <a:rPr lang="en-US" b="1" dirty="0"/>
              <a:t>Collaboration Considerations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600" b="0" dirty="0"/>
              <a:t>I can explore graph-based modeling without overlapping current directions (LLM / BERT pipelines).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600" b="0" dirty="0"/>
              <a:t>Open to integrating my method into shared benchmarks later.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600" b="0" dirty="0"/>
              <a:t>Interested in long-term extensions (e.g., interaction simulation, narrative structure).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08130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dirty="0"/>
              <a:t>Prototype Idea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793EB6F8-C9B5-7073-3947-5CACF92C3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>
            <a:extLst>
              <a:ext uri="{FF2B5EF4-FFF2-40B4-BE49-F238E27FC236}">
                <a16:creationId xmlns:a16="http://schemas.microsoft.com/office/drawing/2014/main" id="{35D64263-718F-6A04-0D39-45730B7131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7" name="Google Shape;121;p3">
            <a:extLst>
              <a:ext uri="{FF2B5EF4-FFF2-40B4-BE49-F238E27FC236}">
                <a16:creationId xmlns:a16="http://schemas.microsoft.com/office/drawing/2014/main" id="{FEDB7D88-8EBF-AA64-F570-D1D264B1E5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dirty="0"/>
              <a:t>Prototype Idea – Graph-Based Annotation Reasoning (Mini Version), 1/2</a:t>
            </a:r>
            <a:endParaRPr dirty="0"/>
          </a:p>
        </p:txBody>
      </p:sp>
      <p:sp>
        <p:nvSpPr>
          <p:cNvPr id="8" name="Google Shape;122;p3">
            <a:extLst>
              <a:ext uri="{FF2B5EF4-FFF2-40B4-BE49-F238E27FC236}">
                <a16:creationId xmlns:a16="http://schemas.microsoft.com/office/drawing/2014/main" id="{3DF5275E-17FD-782E-3A5B-9B7BC587B5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22388" y="2763078"/>
            <a:ext cx="10107612" cy="340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/>
            <a:r>
              <a:rPr lang="en-US" b="1" dirty="0"/>
              <a:t>Goal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600" b="0" dirty="0"/>
              <a:t>Test whether a graph-based structure can support reasoning for CODE prediction in unstructured patient-provider messages.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US" sz="1600" b="0" dirty="0"/>
          </a:p>
          <a:p>
            <a:pPr marL="228600" indent="0"/>
            <a:r>
              <a:rPr lang="en-US" b="1" dirty="0"/>
              <a:t>What I Plan to Build (Mini Version)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600" b="0" dirty="0"/>
              <a:t>Construct a partial graph from unlabeled messages: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600" b="0" dirty="0"/>
              <a:t>Nodes: message, speaker role, extracted concepts (e.g., “pain”, “medication”), emotional cues.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600" b="0" dirty="0"/>
              <a:t>Edges: mentions, expresses, role, </a:t>
            </a:r>
            <a:r>
              <a:rPr lang="en-US" sz="1600" b="0" dirty="0" err="1"/>
              <a:t>similar_to</a:t>
            </a:r>
            <a:r>
              <a:rPr lang="en-US" sz="1600" b="0" dirty="0"/>
              <a:t> (if embeddings used).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600" b="0" dirty="0"/>
              <a:t>Try rule-based reasoning and/or a small GNN model to predict CODEs.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67574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8DCDAE8A-2521-AC50-3D28-23FB2E5B1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>
            <a:extLst>
              <a:ext uri="{FF2B5EF4-FFF2-40B4-BE49-F238E27FC236}">
                <a16:creationId xmlns:a16="http://schemas.microsoft.com/office/drawing/2014/main" id="{1E338945-BA5C-67C1-BB91-DD1C906DD8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7" name="Google Shape;121;p3">
            <a:extLst>
              <a:ext uri="{FF2B5EF4-FFF2-40B4-BE49-F238E27FC236}">
                <a16:creationId xmlns:a16="http://schemas.microsoft.com/office/drawing/2014/main" id="{2268F9B4-917B-EF30-D88C-DC4F0835BB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dirty="0"/>
              <a:t>Prototype Idea – Graph-Based Annotation Reasoning (Mini Version), 2/2</a:t>
            </a:r>
            <a:endParaRPr dirty="0"/>
          </a:p>
        </p:txBody>
      </p:sp>
      <p:sp>
        <p:nvSpPr>
          <p:cNvPr id="8" name="Google Shape;122;p3">
            <a:extLst>
              <a:ext uri="{FF2B5EF4-FFF2-40B4-BE49-F238E27FC236}">
                <a16:creationId xmlns:a16="http://schemas.microsoft.com/office/drawing/2014/main" id="{65C399DE-B251-B686-E3CD-FB4F4145F5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22388" y="2763078"/>
            <a:ext cx="10107612" cy="340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/>
            <a:r>
              <a:rPr lang="en-US" b="1" dirty="0"/>
              <a:t>Why This Matters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600" dirty="0"/>
              <a:t>Adds a structural reasoning layer missing from current BERT/LLM pipelines.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600" dirty="0"/>
              <a:t>Supports semantic flexibility in annotation (e.g., similar messages, soft CODE grouping).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600" dirty="0"/>
              <a:t>Aligns with my prior work on knowledge graphs and narrative structure.</a:t>
            </a:r>
          </a:p>
          <a:p>
            <a:pPr marL="228600" indent="0"/>
            <a:endParaRPr lang="en-US" sz="1600" b="1" dirty="0"/>
          </a:p>
          <a:p>
            <a:pPr marL="228600" indent="0"/>
            <a:r>
              <a:rPr lang="en-US" b="1" dirty="0"/>
              <a:t>Next Steps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600" dirty="0"/>
              <a:t>Start with ~100 annotated messages.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600" dirty="0"/>
              <a:t>Build simple graph-based classifier (baseline).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600" dirty="0"/>
              <a:t>Compare to flat classifiers (e.g., BERT).</a:t>
            </a:r>
          </a:p>
        </p:txBody>
      </p:sp>
    </p:spTree>
    <p:extLst>
      <p:ext uri="{BB962C8B-B14F-4D97-AF65-F5344CB8AC3E}">
        <p14:creationId xmlns:p14="http://schemas.microsoft.com/office/powerpoint/2010/main" val="1949136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76FF0AAE-D4D3-3D48-5932-765AF511E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13E3886E-D5C6-7B8D-796D-44040694150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dirty="0"/>
              <a:t>Possible venues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36222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51538A07-F6CB-2BEE-399A-DBB822753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5519E417-CFDF-F198-E927-ABD819E83C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dirty="0"/>
              <a:t>Possible venues for early feedback</a:t>
            </a:r>
            <a:endParaRPr dirty="0"/>
          </a:p>
        </p:txBody>
      </p:sp>
      <p:graphicFrame>
        <p:nvGraphicFramePr>
          <p:cNvPr id="114" name="Google Shape;114;p2">
            <a:extLst>
              <a:ext uri="{FF2B5EF4-FFF2-40B4-BE49-F238E27FC236}">
                <a16:creationId xmlns:a16="http://schemas.microsoft.com/office/drawing/2014/main" id="{BAF74E73-3D82-0C17-095F-E8AD033F33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6307198"/>
              </p:ext>
            </p:extLst>
          </p:nvPr>
        </p:nvGraphicFramePr>
        <p:xfrm>
          <a:off x="264319" y="2111375"/>
          <a:ext cx="11772901" cy="2345700"/>
        </p:xfrm>
        <a:graphic>
          <a:graphicData uri="http://schemas.openxmlformats.org/drawingml/2006/table">
            <a:tbl>
              <a:tblPr firstRow="1" bandRow="1">
                <a:noFill/>
                <a:tableStyleId>{AA882BC2-12C2-47DE-AB68-3603F239A5B8}</a:tableStyleId>
              </a:tblPr>
              <a:tblGrid>
                <a:gridCol w="5322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6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1656">
                  <a:extLst>
                    <a:ext uri="{9D8B030D-6E8A-4147-A177-3AD203B41FA5}">
                      <a16:colId xmlns:a16="http://schemas.microsoft.com/office/drawing/2014/main" val="1475429717"/>
                    </a:ext>
                  </a:extLst>
                </a:gridCol>
                <a:gridCol w="1843089">
                  <a:extLst>
                    <a:ext uri="{9D8B030D-6E8A-4147-A177-3AD203B41FA5}">
                      <a16:colId xmlns:a16="http://schemas.microsoft.com/office/drawing/2014/main" val="3770860677"/>
                    </a:ext>
                  </a:extLst>
                </a:gridCol>
              </a:tblGrid>
              <a:tr h="733350">
                <a:tc>
                  <a:txBody>
                    <a:bodyPr/>
                    <a:lstStyle/>
                    <a:p>
                      <a:r>
                        <a:rPr lang="en-US" sz="1000" dirty="0"/>
                        <a:t>Workshop (Full Name) @ ECAI (The European conference on Artificial Intelligence)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/>
                        <a:t>Focus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Deadline(s)</a:t>
                      </a:r>
                      <a:endParaRPr sz="1000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 dirty="0" err="1"/>
                        <a:t>HC@AIxIA</a:t>
                      </a:r>
                      <a:r>
                        <a:rPr lang="en-US" sz="1000" b="1" u="none" strike="noStrike" cap="none" dirty="0"/>
                        <a:t> + HYDRA 2025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dirty="0"/>
                        <a:t>International Joint Workshop of Artificial Intelligence for Healthcare and </a:t>
                      </a:r>
                      <a:r>
                        <a:rPr lang="en-US" sz="1000" u="none" strike="noStrike" cap="none" dirty="0" err="1"/>
                        <a:t>HYbrid</a:t>
                      </a:r>
                      <a:r>
                        <a:rPr lang="en-US" sz="1000" u="none" strike="noStrike" cap="none" dirty="0"/>
                        <a:t> Models for Coupling Deductive and Inductive </a:t>
                      </a:r>
                      <a:r>
                        <a:rPr lang="en-US" sz="1000" u="none" strike="noStrike" cap="none" dirty="0" err="1"/>
                        <a:t>ReAsoning</a:t>
                      </a:r>
                      <a:endParaRPr sz="1000" dirty="0"/>
                    </a:p>
                  </a:txBody>
                  <a:tcPr marL="91450" marR="91450" marT="45725" marB="457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AI in healthcare; hybrid symbolic + neural reasoning</a:t>
                      </a:r>
                      <a:endParaRPr sz="1000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June 15 / July 20 / Aug 25</a:t>
                      </a:r>
                      <a:endParaRPr sz="1000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Direct match for graph-based CODE reasoning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 dirty="0" err="1"/>
                        <a:t>AIBio</a:t>
                      </a:r>
                      <a:r>
                        <a:rPr lang="en-US" sz="1000" b="1" u="none" strike="noStrike" cap="none" dirty="0"/>
                        <a:t> 2025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dirty="0"/>
                        <a:t>1st Workshop on Artificial Intelligence for Biomedical Data</a:t>
                      </a:r>
                      <a:endParaRPr sz="1000" strike="noStrike" dirty="0"/>
                    </a:p>
                  </a:txBody>
                  <a:tcPr marL="91450" marR="91450" marT="45725" marB="457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dirty="0"/>
                        <a:t>Applied AI for biomedical and clinical datasets</a:t>
                      </a:r>
                      <a:endParaRPr sz="1000" strike="noStrik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May 20</a:t>
                      </a:r>
                      <a:endParaRPr sz="1000" strike="sngStrik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Relevant to modeling on patient-provider data</a:t>
                      </a:r>
                      <a:endParaRPr sz="1000" strike="sngStrik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/>
                        <a:t>EXPLIMED 2025</a:t>
                      </a:r>
                      <a:r>
                        <a:rPr lang="en-US" sz="1000" dirty="0"/>
                        <a:t> </a:t>
                      </a:r>
                      <a:br>
                        <a:rPr lang="en-US" sz="1000" dirty="0"/>
                      </a:br>
                      <a:r>
                        <a:rPr lang="en-US" sz="1000" i="1" dirty="0"/>
                        <a:t>2nd Workshop on Explainable Artificial Intelligence for the Medical Domain</a:t>
                      </a:r>
                      <a:endParaRPr sz="1000" u="none" strike="noStrike" cap="none" dirty="0"/>
                    </a:p>
                  </a:txBody>
                  <a:tcPr marL="91450" marR="91450" marT="45725" marB="457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Transparency and interpretability in medical AI</a:t>
                      </a:r>
                      <a:endParaRPr sz="10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Est. June (TBD)</a:t>
                      </a:r>
                      <a:endParaRPr sz="10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dirty="0"/>
                        <a:t>Graph reasoning can support explainable labeling</a:t>
                      </a:r>
                      <a:endParaRPr sz="10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5" name="Google Shape;115;p2">
            <a:extLst>
              <a:ext uri="{FF2B5EF4-FFF2-40B4-BE49-F238E27FC236}">
                <a16:creationId xmlns:a16="http://schemas.microsoft.com/office/drawing/2014/main" id="{382C1EA7-2250-8287-77B2-E3A647C8EA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7766FE-E83F-20D9-E86B-7BDCBD4E2DBE}"/>
              </a:ext>
            </a:extLst>
          </p:cNvPr>
          <p:cNvSpPr txBox="1"/>
          <p:nvPr/>
        </p:nvSpPr>
        <p:spPr>
          <a:xfrm>
            <a:off x="1150868" y="6538911"/>
            <a:ext cx="103434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/>
              <a:t>💡 </a:t>
            </a:r>
            <a:r>
              <a:rPr lang="en-US" sz="1200" dirty="0"/>
              <a:t>Workshops considered for early feedback and method-focused submissions</a:t>
            </a:r>
          </a:p>
        </p:txBody>
      </p:sp>
    </p:spTree>
    <p:extLst>
      <p:ext uri="{BB962C8B-B14F-4D97-AF65-F5344CB8AC3E}">
        <p14:creationId xmlns:p14="http://schemas.microsoft.com/office/powerpoint/2010/main" val="2598033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F938345F-2097-ECB1-E96F-8304EEBE6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69E4ED70-4375-0410-5FD1-E3699B70EED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dirty="0"/>
              <a:t>Other info for references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97006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dirty="0"/>
              <a:t>Possible NSF calls</a:t>
            </a:r>
            <a:endParaRPr dirty="0"/>
          </a:p>
        </p:txBody>
      </p:sp>
      <p:sp>
        <p:nvSpPr>
          <p:cNvPr id="142" name="Google Shape;142;p6"/>
          <p:cNvSpPr txBox="1">
            <a:spLocks noGrp="1"/>
          </p:cNvSpPr>
          <p:nvPr>
            <p:ph type="body" idx="1"/>
          </p:nvPr>
        </p:nvSpPr>
        <p:spPr>
          <a:xfrm>
            <a:off x="2933700" y="2645764"/>
            <a:ext cx="3924300" cy="803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NSF CISE Core Programs (NSF 24-589)</a:t>
            </a:r>
            <a:endParaRPr/>
          </a:p>
        </p:txBody>
      </p:sp>
      <p:sp>
        <p:nvSpPr>
          <p:cNvPr id="143" name="Google Shape;143;p6"/>
          <p:cNvSpPr txBox="1">
            <a:spLocks noGrp="1"/>
          </p:cNvSpPr>
          <p:nvPr>
            <p:ph type="body" idx="2"/>
          </p:nvPr>
        </p:nvSpPr>
        <p:spPr>
          <a:xfrm>
            <a:off x="2933700" y="3438971"/>
            <a:ext cx="3943627" cy="3234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 b="1"/>
              <a:t>Focus</a:t>
            </a:r>
            <a:r>
              <a:rPr lang="en-US" sz="1600"/>
              <a:t>: Foundational research in AI, computing, information science, and cyberinfrastructure, </a:t>
            </a:r>
            <a:r>
              <a:rPr lang="en-US" sz="1600" u="sng">
                <a:solidFill>
                  <a:schemeClr val="hlink"/>
                </a:solidFill>
                <a:hlinkClick r:id="rId3"/>
              </a:rPr>
              <a:t>link</a:t>
            </a:r>
            <a:r>
              <a:rPr lang="en-US" sz="1600"/>
              <a:t>:</a:t>
            </a:r>
            <a:endParaRPr/>
          </a:p>
          <a:p>
            <a:pPr marL="283464" lvl="1" indent="-283464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600" b="1"/>
              <a:t>Relevant Tracks</a:t>
            </a:r>
            <a:r>
              <a:rPr lang="en-US" sz="1600"/>
              <a:t> (via CISE/IIS):</a:t>
            </a:r>
            <a:endParaRPr/>
          </a:p>
          <a:p>
            <a:pPr marL="566928" lvl="2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600" i="1"/>
              <a:t>Robust Intelligence (RI)</a:t>
            </a:r>
            <a:r>
              <a:rPr lang="en-US" sz="1600"/>
              <a:t> – AI and reasoning systems</a:t>
            </a:r>
            <a:endParaRPr/>
          </a:p>
          <a:p>
            <a:pPr marL="566928" lvl="2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600" i="1"/>
              <a:t>Human-Centered Computing (HCC)</a:t>
            </a:r>
            <a:r>
              <a:rPr lang="en-US" sz="1600"/>
              <a:t> – human-AI interaction, multimodal interfaces</a:t>
            </a:r>
            <a:endParaRPr/>
          </a:p>
          <a:p>
            <a:pPr marL="283464" lvl="1" indent="-283464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600" b="1"/>
              <a:t>Funding Levels</a:t>
            </a:r>
            <a:r>
              <a:rPr lang="en-US" sz="1600"/>
              <a:t>:</a:t>
            </a:r>
            <a:endParaRPr/>
          </a:p>
          <a:p>
            <a:pPr marL="566928" lvl="2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600"/>
              <a:t>Small: ≤ $600K, 3 years (submit anytime)</a:t>
            </a:r>
            <a:endParaRPr/>
          </a:p>
          <a:p>
            <a:pPr marL="566928" lvl="2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600"/>
              <a:t>Medium: $600K–$1.2M, 4 years (Oct 1–23 annually)</a:t>
            </a:r>
            <a:endParaRPr/>
          </a:p>
        </p:txBody>
      </p:sp>
      <p:sp>
        <p:nvSpPr>
          <p:cNvPr id="144" name="Google Shape;144;p6"/>
          <p:cNvSpPr txBox="1">
            <a:spLocks noGrp="1"/>
          </p:cNvSpPr>
          <p:nvPr>
            <p:ph type="body" idx="3"/>
          </p:nvPr>
        </p:nvSpPr>
        <p:spPr>
          <a:xfrm>
            <a:off x="7410173" y="2645764"/>
            <a:ext cx="3943627" cy="803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NSF HNDS (NSF 23-568)</a:t>
            </a:r>
            <a:endParaRPr/>
          </a:p>
        </p:txBody>
      </p:sp>
      <p:sp>
        <p:nvSpPr>
          <p:cNvPr id="145" name="Google Shape;145;p6"/>
          <p:cNvSpPr txBox="1">
            <a:spLocks noGrp="1"/>
          </p:cNvSpPr>
          <p:nvPr>
            <p:ph type="body" idx="4"/>
          </p:nvPr>
        </p:nvSpPr>
        <p:spPr>
          <a:xfrm>
            <a:off x="7410173" y="3438970"/>
            <a:ext cx="4716870" cy="3419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/>
              <a:t>Focus</a:t>
            </a:r>
            <a:r>
              <a:rPr lang="en-US" sz="1400"/>
              <a:t>: Human behavior via network/data science + infrastructure to support SBE research, </a:t>
            </a:r>
            <a:r>
              <a:rPr lang="en-US" sz="1400" u="sng">
                <a:solidFill>
                  <a:schemeClr val="hlink"/>
                </a:solidFill>
                <a:hlinkClick r:id="rId4"/>
              </a:rPr>
              <a:t>link</a:t>
            </a:r>
            <a:r>
              <a:rPr lang="en-US" sz="1400"/>
              <a:t>:</a:t>
            </a:r>
            <a:endParaRPr/>
          </a:p>
          <a:p>
            <a:pPr marL="283464" lvl="1" indent="-283464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 b="1"/>
              <a:t>Relevant Tracks</a:t>
            </a:r>
            <a:r>
              <a:rPr lang="en-US" sz="1400"/>
              <a:t>:</a:t>
            </a:r>
            <a:endParaRPr/>
          </a:p>
          <a:p>
            <a:pPr marL="566928" lvl="2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HNDS-R (Core Research) – theory building via network/data science (by permission)</a:t>
            </a:r>
            <a:endParaRPr/>
          </a:p>
          <a:p>
            <a:pPr marL="566928" lvl="2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HNDS-I (Infrastructure) – tools and datasets to enable SBE discovery</a:t>
            </a:r>
            <a:endParaRPr/>
          </a:p>
          <a:p>
            <a:pPr marL="283464" lvl="1" indent="-283464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Deadlines:</a:t>
            </a:r>
            <a:endParaRPr/>
          </a:p>
          <a:p>
            <a:pPr marL="566928" lvl="2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HNDS-I: Feb 6 &amp; Aug 7</a:t>
            </a:r>
            <a:endParaRPr/>
          </a:p>
          <a:p>
            <a:pPr marL="566928" lvl="2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HNDS-R: Jan 9 &amp; Jul 10 (permission required for direct submission)</a:t>
            </a:r>
            <a:endParaRPr/>
          </a:p>
        </p:txBody>
      </p:sp>
      <p:sp>
        <p:nvSpPr>
          <p:cNvPr id="146" name="Google Shape;146;p6"/>
          <p:cNvSpPr txBox="1">
            <a:spLocks noGrp="1"/>
          </p:cNvSpPr>
          <p:nvPr>
            <p:ph type="sldNum" idx="12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 txBox="1"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dirty="0"/>
              <a:t>Additional info</a:t>
            </a:r>
            <a:endParaRPr dirty="0"/>
          </a:p>
        </p:txBody>
      </p:sp>
      <p:sp>
        <p:nvSpPr>
          <p:cNvPr id="153" name="Google Shape;153;p7"/>
          <p:cNvSpPr txBox="1">
            <a:spLocks noGrp="1"/>
          </p:cNvSpPr>
          <p:nvPr>
            <p:ph type="body" idx="1"/>
          </p:nvPr>
        </p:nvSpPr>
        <p:spPr>
          <a:xfrm>
            <a:off x="1322388" y="2763078"/>
            <a:ext cx="9163232" cy="340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b="1" dirty="0"/>
              <a:t>Eligibility (J-1 Postdoc at Yale):</a:t>
            </a:r>
            <a:endParaRPr sz="1600" dirty="0"/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dirty="0"/>
              <a:t>❌ Cannot serve as PI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dirty="0"/>
              <a:t>✅ Can join as Co-PI or Senior Personnel with Yale’s approval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dirty="0"/>
              <a:t>NSF allows participation if affiliated with a U.S. institution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b="1" dirty="0"/>
              <a:t>My Contribution: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dirty="0"/>
              <a:t>Expertise: Multimodal AI, Knowledge Graphs, Narrative Modeling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b="1" dirty="0"/>
              <a:t>Discussion Points:</a:t>
            </a:r>
            <a:endParaRPr sz="1600" dirty="0"/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dirty="0"/>
              <a:t>Do you see potential to align this with your current research in healthcare data?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dirty="0"/>
              <a:t>Could we co-develop a proposal under one of the two NSF programs?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dirty="0"/>
              <a:t>Would it be possible to explore a proposal where you serve as PI, and I contribute as Co-PI or key personnel?</a:t>
            </a:r>
            <a:endParaRPr sz="1600" b="0" dirty="0"/>
          </a:p>
        </p:txBody>
      </p:sp>
      <p:sp>
        <p:nvSpPr>
          <p:cNvPr id="154" name="Google Shape;154;p7"/>
          <p:cNvSpPr txBox="1">
            <a:spLocks noGrp="1"/>
          </p:cNvSpPr>
          <p:nvPr>
            <p:ph type="sldNum" idx="12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 txBox="1"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161" name="Google Shape;161;p8"/>
          <p:cNvSpPr txBox="1"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850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Yi-Chun (Rimi) Chen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984-500-8488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ychen74@alumni.ncsu.edu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/>
          </a:p>
        </p:txBody>
      </p:sp>
      <p:sp>
        <p:nvSpPr>
          <p:cNvPr id="162" name="Google Shape;162;p8"/>
          <p:cNvSpPr txBox="1">
            <a:spLocks noGrp="1"/>
          </p:cNvSpPr>
          <p:nvPr>
            <p:ph type="sldNum" idx="12"/>
          </p:nvPr>
        </p:nvSpPr>
        <p:spPr>
          <a:xfrm>
            <a:off x="9579428" y="6356350"/>
            <a:ext cx="17743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</TotalTime>
  <Words>1025</Words>
  <Application>Microsoft Office PowerPoint</Application>
  <PresentationFormat>Widescreen</PresentationFormat>
  <Paragraphs>170</Paragraphs>
  <Slides>17</Slides>
  <Notes>17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Tenorite</vt:lpstr>
      <vt:lpstr>Custom</vt:lpstr>
      <vt:lpstr>DISCUSSION 2025 MAY</vt:lpstr>
      <vt:lpstr>Revision history</vt:lpstr>
      <vt:lpstr>Understanding of Lab Project &amp; My Framing (1/2)</vt:lpstr>
      <vt:lpstr>Understanding of Lab Project &amp; My Framing (2/2)</vt:lpstr>
      <vt:lpstr>Potential tracks</vt:lpstr>
      <vt:lpstr>Motivation</vt:lpstr>
      <vt:lpstr>My Proposed Direction</vt:lpstr>
      <vt:lpstr>Why This Matters</vt:lpstr>
      <vt:lpstr>Prototype Idea</vt:lpstr>
      <vt:lpstr>Prototype Idea – Graph-Based Annotation Reasoning (Mini Version), 1/2</vt:lpstr>
      <vt:lpstr>Prototype Idea – Graph-Based Annotation Reasoning (Mini Version), 2/2</vt:lpstr>
      <vt:lpstr>Possible venues</vt:lpstr>
      <vt:lpstr>Possible venues for early feedback</vt:lpstr>
      <vt:lpstr>Other info for references</vt:lpstr>
      <vt:lpstr>Possible NSF calls</vt:lpstr>
      <vt:lpstr>Additional info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Yi-Chun Chen</dc:creator>
  <cp:lastModifiedBy>Yi-Chun Chen</cp:lastModifiedBy>
  <cp:revision>13</cp:revision>
  <dcterms:created xsi:type="dcterms:W3CDTF">2025-04-30T13:06:45Z</dcterms:created>
  <dcterms:modified xsi:type="dcterms:W3CDTF">2025-05-12T15:52:12Z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