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4" r:id="rId4"/>
    <p:sldId id="267" r:id="rId5"/>
    <p:sldId id="265" r:id="rId6"/>
    <p:sldId id="266" r:id="rId7"/>
    <p:sldId id="268" r:id="rId8"/>
    <p:sldId id="269" r:id="rId9"/>
    <p:sldId id="275" r:id="rId10"/>
    <p:sldId id="273" r:id="rId11"/>
    <p:sldId id="274" r:id="rId12"/>
    <p:sldId id="270" r:id="rId13"/>
    <p:sldId id="263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0" roundtripDataSignature="AMtx7mjVn8mPSx/aTw3jscTe6Qmh6Ya4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A882BC2-12C2-47DE-AB68-3603F239A5B8}">
  <a:tblStyle styleId="{AA882BC2-12C2-47DE-AB68-3603F239A5B8}" styleName="Table_0">
    <a:wholeTbl>
      <a:tcTxStyle b="off" i="off">
        <a:font>
          <a:latin typeface="Tenorite"/>
          <a:ea typeface="Tenorite"/>
          <a:cs typeface="Tenorite"/>
        </a:font>
        <a:schemeClr val="dk1"/>
      </a:tcTxStyle>
      <a:tcStyle>
        <a:tcBdr>
          <a:left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>
          <a:top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</a:tcStyle>
    </a:band1H>
    <a:band2H>
      <a:tcTxStyle/>
      <a:tcStyle>
        <a:tcBdr/>
      </a:tcStyle>
    </a:band2H>
    <a:band1V>
      <a:tcTxStyle/>
      <a:tcStyle>
        <a:tcBdr>
          <a:left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1V>
    <a:band2V>
      <a:tcTxStyle/>
      <a:tcStyle>
        <a:tcBdr>
          <a:left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Tenorite"/>
          <a:ea typeface="Tenorite"/>
          <a:cs typeface="Tenorite"/>
        </a:font>
        <a:schemeClr val="lt1"/>
      </a:tcTxStyle>
      <a:tcStyle>
        <a:tcBdr/>
        <a:fill>
          <a:solidFill>
            <a:schemeClr val="dk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307" y="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41033188-C4C6-8217-39FE-EB6380EFC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>
            <a:extLst>
              <a:ext uri="{FF2B5EF4-FFF2-40B4-BE49-F238E27FC236}">
                <a16:creationId xmlns:a16="http://schemas.microsoft.com/office/drawing/2014/main" id="{CE78324C-9868-636F-2FEA-80E8A8AE14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2:notes">
            <a:extLst>
              <a:ext uri="{FF2B5EF4-FFF2-40B4-BE49-F238E27FC236}">
                <a16:creationId xmlns:a16="http://schemas.microsoft.com/office/drawing/2014/main" id="{43BAAD64-5DAB-BA28-F5B4-A97E3218AD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:notes">
            <a:extLst>
              <a:ext uri="{FF2B5EF4-FFF2-40B4-BE49-F238E27FC236}">
                <a16:creationId xmlns:a16="http://schemas.microsoft.com/office/drawing/2014/main" id="{42A5B2E2-E2B0-3E69-EE91-DBD2E5E872C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931873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229435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>
            <a:spLocks noGrp="1"/>
          </p:cNvSpPr>
          <p:nvPr>
            <p:ph type="ctrTitle"/>
          </p:nvPr>
        </p:nvSpPr>
        <p:spPr>
          <a:xfrm>
            <a:off x="6441918" y="3329790"/>
            <a:ext cx="4941771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7" name="Google Shape;17;p10"/>
          <p:cNvPicPr preferRelativeResize="0"/>
          <p:nvPr/>
        </p:nvPicPr>
        <p:blipFill rotWithShape="1">
          <a:blip r:embed="rId2">
            <a:alphaModFix/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2">
  <p:cSld name="Table 2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19;p11"/>
          <p:cNvGrpSpPr/>
          <p:nvPr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20" name="Google Shape;20;p11"/>
            <p:cNvCxnSpPr/>
            <p:nvPr/>
          </p:nvCxnSpPr>
          <p:spPr>
            <a:xfrm rot="10800000" flipH="1">
              <a:off x="0" y="0"/>
              <a:ext cx="2590800" cy="762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1" name="Google Shape;21;p11"/>
            <p:cNvCxnSpPr/>
            <p:nvPr/>
          </p:nvCxnSpPr>
          <p:spPr>
            <a:xfrm flipH="1">
              <a:off x="0" y="0"/>
              <a:ext cx="704850" cy="102790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2" name="Google Shape;22;p11"/>
          <p:cNvSpPr txBox="1">
            <a:spLocks noGrp="1"/>
          </p:cNvSpPr>
          <p:nvPr>
            <p:ph type="title"/>
          </p:nvPr>
        </p:nvSpPr>
        <p:spPr>
          <a:xfrm>
            <a:off x="838200" y="35355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1"/>
          <p:cNvSpPr txBox="1">
            <a:spLocks noGrp="1"/>
          </p:cNvSpPr>
          <p:nvPr>
            <p:ph type="ftr" idx="11"/>
          </p:nvPr>
        </p:nvSpPr>
        <p:spPr>
          <a:xfrm>
            <a:off x="838200" y="6356349"/>
            <a:ext cx="381922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1"/>
          <p:cNvSpPr txBox="1">
            <a:spLocks noGrp="1"/>
          </p:cNvSpPr>
          <p:nvPr>
            <p:ph type="sldNum" idx="12"/>
          </p:nvPr>
        </p:nvSpPr>
        <p:spPr>
          <a:xfrm>
            <a:off x="10373350" y="6356349"/>
            <a:ext cx="987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" type="title">
  <p:cSld name="TITLE">
    <p:bg>
      <p:bgPr>
        <a:solidFill>
          <a:schemeClr val="dk1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5"/>
          <p:cNvSpPr txBox="1"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5"/>
          <p:cNvSpPr txBox="1"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850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51" name="Google Shape;51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176938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5"/>
          <p:cNvSpPr txBox="1">
            <a:spLocks noGrp="1"/>
          </p:cNvSpPr>
          <p:nvPr>
            <p:ph type="ftr" idx="11"/>
          </p:nvPr>
        </p:nvSpPr>
        <p:spPr>
          <a:xfrm>
            <a:off x="4267200" y="6356350"/>
            <a:ext cx="417957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5"/>
          <p:cNvSpPr txBox="1">
            <a:spLocks noGrp="1"/>
          </p:cNvSpPr>
          <p:nvPr>
            <p:ph type="sldNum" idx="12"/>
          </p:nvPr>
        </p:nvSpPr>
        <p:spPr>
          <a:xfrm>
            <a:off x="9579428" y="6356350"/>
            <a:ext cx="17743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type="obj">
  <p:cSld name="OBJECT">
    <p:bg>
      <p:bgPr>
        <a:solidFill>
          <a:schemeClr val="dk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6"/>
          <p:cNvPicPr preferRelativeResize="0"/>
          <p:nvPr/>
        </p:nvPicPr>
        <p:blipFill rotWithShape="1">
          <a:blip r:embed="rId2">
            <a:alphaModFix/>
          </a:blip>
          <a:srcRect t="18301" r="28340" b="23070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6"/>
          <p:cNvSpPr txBox="1">
            <a:spLocks noGrp="1"/>
          </p:cNvSpPr>
          <p:nvPr>
            <p:ph type="title"/>
          </p:nvPr>
        </p:nvSpPr>
        <p:spPr>
          <a:xfrm>
            <a:off x="1333500" y="1020445"/>
            <a:ext cx="289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6"/>
          <p:cNvSpPr txBox="1">
            <a:spLocks noGrp="1"/>
          </p:cNvSpPr>
          <p:nvPr>
            <p:ph type="body" idx="1"/>
          </p:nvPr>
        </p:nvSpPr>
        <p:spPr>
          <a:xfrm>
            <a:off x="1333500" y="2674013"/>
            <a:ext cx="2895600" cy="3269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6"/>
          <p:cNvSpPr txBox="1">
            <a:spLocks noGrp="1"/>
          </p:cNvSpPr>
          <p:nvPr>
            <p:ph type="ftr" idx="11"/>
          </p:nvPr>
        </p:nvSpPr>
        <p:spPr>
          <a:xfrm>
            <a:off x="1333500" y="6356349"/>
            <a:ext cx="381922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6"/>
          <p:cNvSpPr txBox="1">
            <a:spLocks noGrp="1"/>
          </p:cNvSpPr>
          <p:nvPr>
            <p:ph type="sldNum" idx="12"/>
          </p:nvPr>
        </p:nvSpPr>
        <p:spPr>
          <a:xfrm>
            <a:off x="10373350" y="6356349"/>
            <a:ext cx="987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Break 2">
  <p:cSld name="Section Break 2">
    <p:bg>
      <p:bgPr>
        <a:solidFill>
          <a:schemeClr val="dk1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7"/>
          <p:cNvSpPr txBox="1">
            <a:spLocks noGrp="1"/>
          </p:cNvSpPr>
          <p:nvPr>
            <p:ph type="ctrTitle"/>
          </p:nvPr>
        </p:nvSpPr>
        <p:spPr>
          <a:xfrm>
            <a:off x="6991350" y="487680"/>
            <a:ext cx="4179570" cy="3376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62" name="Google Shape;62;p17"/>
          <p:cNvCxnSpPr/>
          <p:nvPr/>
        </p:nvCxnSpPr>
        <p:spPr>
          <a:xfrm>
            <a:off x="3990667" y="0"/>
            <a:ext cx="1126278" cy="2512291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3" name="Google Shape;63;p17"/>
          <p:cNvSpPr>
            <a:spLocks noGrp="1"/>
          </p:cNvSpPr>
          <p:nvPr>
            <p:ph type="pic" idx="2"/>
          </p:nvPr>
        </p:nvSpPr>
        <p:spPr>
          <a:xfrm>
            <a:off x="0" y="-5080"/>
            <a:ext cx="6576291" cy="687260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Break 3">
  <p:cSld name="Section Break 3">
    <p:bg>
      <p:bgPr>
        <a:solidFill>
          <a:schemeClr val="dk1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8"/>
          <p:cNvSpPr txBox="1">
            <a:spLocks noGrp="1"/>
          </p:cNvSpPr>
          <p:nvPr>
            <p:ph type="ctrTitle"/>
          </p:nvPr>
        </p:nvSpPr>
        <p:spPr>
          <a:xfrm>
            <a:off x="6991350" y="406400"/>
            <a:ext cx="4179570" cy="3457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6" name="Google Shape;66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828675"/>
            <a:ext cx="5876925" cy="520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2">
  <p:cSld name="Two Content 2">
    <p:bg>
      <p:bgPr>
        <a:solidFill>
          <a:schemeClr val="lt1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9"/>
          <p:cNvSpPr txBox="1">
            <a:spLocks noGrp="1"/>
          </p:cNvSpPr>
          <p:nvPr>
            <p:ph type="title"/>
          </p:nvPr>
        </p:nvSpPr>
        <p:spPr>
          <a:xfrm>
            <a:off x="1341120" y="558801"/>
            <a:ext cx="9953308" cy="1780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9" name="Google Shape;69;p19"/>
          <p:cNvGrpSpPr/>
          <p:nvPr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70" name="Google Shape;70;p19"/>
            <p:cNvCxnSpPr/>
            <p:nvPr/>
          </p:nvCxnSpPr>
          <p:spPr>
            <a:xfrm rot="10800000">
              <a:off x="7334250" y="0"/>
              <a:ext cx="4857750" cy="762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1" name="Google Shape;71;p19"/>
            <p:cNvCxnSpPr/>
            <p:nvPr/>
          </p:nvCxnSpPr>
          <p:spPr>
            <a:xfrm>
              <a:off x="11487150" y="0"/>
              <a:ext cx="704850" cy="172402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72" name="Google Shape;72;p19"/>
          <p:cNvSpPr txBox="1">
            <a:spLocks noGrp="1"/>
          </p:cNvSpPr>
          <p:nvPr>
            <p:ph type="body" idx="1"/>
          </p:nvPr>
        </p:nvSpPr>
        <p:spPr>
          <a:xfrm>
            <a:off x="1341120" y="2960877"/>
            <a:ext cx="2722880" cy="351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3" name="Google Shape;73;p19"/>
          <p:cNvSpPr txBox="1">
            <a:spLocks noGrp="1"/>
          </p:cNvSpPr>
          <p:nvPr>
            <p:ph type="body" idx="2"/>
          </p:nvPr>
        </p:nvSpPr>
        <p:spPr>
          <a:xfrm>
            <a:off x="1341120" y="3392035"/>
            <a:ext cx="2722880" cy="2907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  <a:defRPr sz="1800" b="0"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LcPeriod"/>
              <a:defRPr sz="1800"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arenR"/>
              <a:defRPr sz="1800"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LcParenR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romanLcPeriod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9"/>
          <p:cNvSpPr txBox="1">
            <a:spLocks noGrp="1"/>
          </p:cNvSpPr>
          <p:nvPr>
            <p:ph type="body" idx="3"/>
          </p:nvPr>
        </p:nvSpPr>
        <p:spPr>
          <a:xfrm>
            <a:off x="4754881" y="2960877"/>
            <a:ext cx="5516880" cy="351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4"/>
          </p:nvPr>
        </p:nvSpPr>
        <p:spPr>
          <a:xfrm>
            <a:off x="4754881" y="3324859"/>
            <a:ext cx="5506720" cy="3031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ftr" idx="11"/>
          </p:nvPr>
        </p:nvSpPr>
        <p:spPr>
          <a:xfrm>
            <a:off x="1333500" y="6356349"/>
            <a:ext cx="381922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sldNum" idx="12"/>
          </p:nvPr>
        </p:nvSpPr>
        <p:spPr>
          <a:xfrm>
            <a:off x="10373350" y="6356349"/>
            <a:ext cx="987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mmary">
  <p:cSld name="Summary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9" name="Google Shape;79;p20"/>
          <p:cNvCxnSpPr/>
          <p:nvPr/>
        </p:nvCxnSpPr>
        <p:spPr>
          <a:xfrm rot="10800000">
            <a:off x="3094182" y="0"/>
            <a:ext cx="1745673" cy="389774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0" name="Google Shape;80;p20"/>
          <p:cNvSpPr txBox="1">
            <a:spLocks noGrp="1"/>
          </p:cNvSpPr>
          <p:nvPr>
            <p:ph type="title"/>
          </p:nvPr>
        </p:nvSpPr>
        <p:spPr>
          <a:xfrm>
            <a:off x="5476874" y="1671639"/>
            <a:ext cx="5884027" cy="1204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0"/>
          <p:cNvSpPr>
            <a:spLocks noGrp="1"/>
          </p:cNvSpPr>
          <p:nvPr>
            <p:ph type="pic" idx="2"/>
          </p:nvPr>
        </p:nvSpPr>
        <p:spPr>
          <a:xfrm>
            <a:off x="-28230" y="-9144"/>
            <a:ext cx="5481955" cy="6876288"/>
          </a:xfrm>
          <a:prstGeom prst="rect">
            <a:avLst/>
          </a:prstGeom>
          <a:noFill/>
          <a:ln>
            <a:noFill/>
          </a:ln>
        </p:spPr>
      </p:sp>
      <p:sp>
        <p:nvSpPr>
          <p:cNvPr id="82" name="Google Shape;82;p20"/>
          <p:cNvSpPr txBox="1">
            <a:spLocks noGrp="1"/>
          </p:cNvSpPr>
          <p:nvPr>
            <p:ph type="ftr" idx="11"/>
          </p:nvPr>
        </p:nvSpPr>
        <p:spPr>
          <a:xfrm>
            <a:off x="825500" y="6356349"/>
            <a:ext cx="381922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0"/>
          <p:cNvSpPr txBox="1">
            <a:spLocks noGrp="1"/>
          </p:cNvSpPr>
          <p:nvPr>
            <p:ph type="sldNum" idx="12"/>
          </p:nvPr>
        </p:nvSpPr>
        <p:spPr>
          <a:xfrm>
            <a:off x="10373350" y="6356349"/>
            <a:ext cx="987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" name="Google Shape;84;p20"/>
          <p:cNvSpPr txBox="1">
            <a:spLocks noGrp="1"/>
          </p:cNvSpPr>
          <p:nvPr>
            <p:ph type="body" idx="1"/>
          </p:nvPr>
        </p:nvSpPr>
        <p:spPr>
          <a:xfrm>
            <a:off x="5453725" y="3660774"/>
            <a:ext cx="5907176" cy="2536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bg>
      <p:bgPr>
        <a:solidFill>
          <a:schemeClr val="accent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>
            <a:spLocks noGrp="1"/>
          </p:cNvSpPr>
          <p:nvPr>
            <p:ph type="title"/>
          </p:nvPr>
        </p:nvSpPr>
        <p:spPr>
          <a:xfrm>
            <a:off x="838200" y="337192"/>
            <a:ext cx="5655197" cy="1997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2"/>
          <p:cNvSpPr txBox="1">
            <a:spLocks noGrp="1"/>
          </p:cNvSpPr>
          <p:nvPr>
            <p:ph type="body" idx="1"/>
          </p:nvPr>
        </p:nvSpPr>
        <p:spPr>
          <a:xfrm>
            <a:off x="838200" y="2705177"/>
            <a:ext cx="5733772" cy="448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6" name="Google Shape;96;p22"/>
          <p:cNvSpPr txBox="1">
            <a:spLocks noGrp="1"/>
          </p:cNvSpPr>
          <p:nvPr>
            <p:ph type="body" idx="2"/>
          </p:nvPr>
        </p:nvSpPr>
        <p:spPr>
          <a:xfrm>
            <a:off x="838199" y="3154166"/>
            <a:ext cx="5733773" cy="3032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1pPr>
            <a:lvl2pPr marL="91440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22"/>
          <p:cNvSpPr txBox="1">
            <a:spLocks noGrp="1"/>
          </p:cNvSpPr>
          <p:nvPr>
            <p:ph type="body" idx="3"/>
          </p:nvPr>
        </p:nvSpPr>
        <p:spPr>
          <a:xfrm>
            <a:off x="7887108" y="2705177"/>
            <a:ext cx="3943627" cy="448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8" name="Google Shape;98;p22"/>
          <p:cNvSpPr txBox="1">
            <a:spLocks noGrp="1"/>
          </p:cNvSpPr>
          <p:nvPr>
            <p:ph type="body" idx="4"/>
          </p:nvPr>
        </p:nvSpPr>
        <p:spPr>
          <a:xfrm>
            <a:off x="7887107" y="3164867"/>
            <a:ext cx="3943627" cy="3032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22"/>
          <p:cNvSpPr txBox="1">
            <a:spLocks noGrp="1"/>
          </p:cNvSpPr>
          <p:nvPr>
            <p:ph type="ftr" idx="11"/>
          </p:nvPr>
        </p:nvSpPr>
        <p:spPr>
          <a:xfrm>
            <a:off x="843986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1" name="Google Shape;101;p22"/>
          <p:cNvPicPr preferRelativeResize="0"/>
          <p:nvPr/>
        </p:nvPicPr>
        <p:blipFill rotWithShape="1">
          <a:blip r:embed="rId2">
            <a:alphaModFix/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1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mailto:ychen74@alumni.ncsu.edu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hyperlink" Target="mailto:yi-chun.chen@yale.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"/>
          <p:cNvSpPr txBox="1">
            <a:spLocks noGrp="1"/>
          </p:cNvSpPr>
          <p:nvPr>
            <p:ph type="ctrTitle"/>
          </p:nvPr>
        </p:nvSpPr>
        <p:spPr>
          <a:xfrm>
            <a:off x="6441918" y="3329790"/>
            <a:ext cx="4941771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DISCUSSION 2025 MAY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"/>
          <p:cNvSpPr txBox="1">
            <a:spLocks noGrp="1"/>
          </p:cNvSpPr>
          <p:nvPr>
            <p:ph type="title"/>
          </p:nvPr>
        </p:nvSpPr>
        <p:spPr>
          <a:xfrm>
            <a:off x="838200" y="35355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r>
              <a:rPr lang="en-US" sz="2400" dirty="0"/>
              <a:t>Revision history</a:t>
            </a:r>
            <a:endParaRPr sz="2400" dirty="0"/>
          </a:p>
        </p:txBody>
      </p:sp>
      <p:graphicFrame>
        <p:nvGraphicFramePr>
          <p:cNvPr id="114" name="Google Shape;114;p2"/>
          <p:cNvGraphicFramePr/>
          <p:nvPr>
            <p:extLst>
              <p:ext uri="{D42A27DB-BD31-4B8C-83A1-F6EECF244321}">
                <p14:modId xmlns:p14="http://schemas.microsoft.com/office/powerpoint/2010/main" val="2494616477"/>
              </p:ext>
            </p:extLst>
          </p:nvPr>
        </p:nvGraphicFramePr>
        <p:xfrm>
          <a:off x="838199" y="2111375"/>
          <a:ext cx="10389425" cy="3645084"/>
        </p:xfrm>
        <a:graphic>
          <a:graphicData uri="http://schemas.openxmlformats.org/drawingml/2006/table">
            <a:tbl>
              <a:tblPr firstRow="1" bandRow="1">
                <a:noFill/>
                <a:tableStyleId>{AA882BC2-12C2-47DE-AB68-3603F239A5B8}</a:tableStyleId>
              </a:tblPr>
              <a:tblGrid>
                <a:gridCol w="228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02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751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/>
                        <a:t>Updated date</a:t>
                      </a:r>
                      <a:endParaRPr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/>
                        <a:t>Note</a:t>
                      </a:r>
                      <a:endParaRPr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751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2025.05.1</a:t>
                      </a:r>
                      <a:r>
                        <a:rPr lang="en-US" altLang="zh-TW" dirty="0"/>
                        <a:t>6</a:t>
                      </a:r>
                      <a:endParaRPr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Visualization of codebooks</a:t>
                      </a:r>
                      <a:endParaRPr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751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enorite"/>
                          <a:sym typeface="Arial"/>
                        </a:rPr>
                        <a:t>2025.05.16</a:t>
                      </a:r>
                      <a:endParaRPr sz="1400" b="0" i="0" u="none" strike="noStrike" cap="none" dirty="0">
                        <a:solidFill>
                          <a:schemeClr val="dk1"/>
                        </a:solidFill>
                        <a:latin typeface="Tenorite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enorite"/>
                          <a:sym typeface="Arial"/>
                        </a:rPr>
                        <a:t>Analysis of codebooks</a:t>
                      </a:r>
                      <a:endParaRPr sz="1400" b="0" i="0" u="none" strike="noStrike" cap="none" dirty="0">
                        <a:solidFill>
                          <a:schemeClr val="dk1"/>
                        </a:solidFill>
                        <a:latin typeface="Tenorite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751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enorite"/>
                          <a:sym typeface="Arial"/>
                        </a:rPr>
                        <a:t>2025.05.19</a:t>
                      </a:r>
                      <a:endParaRPr sz="1400" b="0" i="0" u="none" strike="noStrike" cap="none" dirty="0">
                        <a:solidFill>
                          <a:schemeClr val="dk1"/>
                        </a:solidFill>
                        <a:latin typeface="Tenorite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enorite"/>
                          <a:sym typeface="Arial"/>
                        </a:rPr>
                        <a:t>Analysis of annotations</a:t>
                      </a:r>
                      <a:endParaRPr sz="1400" b="0" i="0" u="none" strike="noStrike" cap="none" dirty="0">
                        <a:solidFill>
                          <a:schemeClr val="dk1"/>
                        </a:solidFill>
                        <a:latin typeface="Tenorite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751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enorite"/>
                          <a:sym typeface="Arial"/>
                        </a:rPr>
                        <a:t>2025.05.20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enorite"/>
                          <a:sym typeface="Arial"/>
                        </a:rPr>
                        <a:t>Data pipeline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2350795175"/>
                  </a:ext>
                </a:extLst>
              </a:tr>
              <a:tr h="60751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400" b="0" i="0" u="none" strike="noStrike" cap="none" dirty="0">
                        <a:solidFill>
                          <a:schemeClr val="dk1"/>
                        </a:solidFill>
                        <a:latin typeface="Tenorite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400" b="0" i="0" u="none" strike="noStrike" cap="none" dirty="0">
                        <a:solidFill>
                          <a:schemeClr val="dk1"/>
                        </a:solidFill>
                        <a:latin typeface="Tenorite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674555125"/>
                  </a:ext>
                </a:extLst>
              </a:tr>
            </a:tbl>
          </a:graphicData>
        </a:graphic>
      </p:graphicFrame>
      <p:sp>
        <p:nvSpPr>
          <p:cNvPr id="115" name="Google Shape;115;p2"/>
          <p:cNvSpPr txBox="1">
            <a:spLocks noGrp="1"/>
          </p:cNvSpPr>
          <p:nvPr>
            <p:ph type="sldNum" idx="12"/>
          </p:nvPr>
        </p:nvSpPr>
        <p:spPr>
          <a:xfrm>
            <a:off x="10373350" y="6356349"/>
            <a:ext cx="987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C65C079-F4A4-199F-C4D6-5F0429F33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Summary of last week</a:t>
            </a:r>
            <a:br>
              <a:rPr lang="en-US" sz="2800" b="0" i="0" u="none" strike="noStrike" cap="none" dirty="0">
                <a:solidFill>
                  <a:schemeClr val="bg1"/>
                </a:solidFill>
                <a:latin typeface="Tenorite"/>
                <a:sym typeface="Arial"/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692ED9-3AE3-4141-D15A-E4921E98BA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Codebook visualization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Codebook analysis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C88817-7B1C-4052-123C-1108DCF2D5F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658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B92E1-BF57-1572-C4F5-E85F4C95F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Codebook Visualizations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8B658D-61E6-B0CA-AE33-09EB0BFAC4C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373350" y="6356349"/>
            <a:ext cx="987552" cy="365125"/>
          </a:xfrm>
        </p:spPr>
        <p:txBody>
          <a:bodyPr wrap="square" anchor="ctr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mtClean="0"/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2CBBC0-76E9-5651-A654-BFD12EB1997E}"/>
              </a:ext>
            </a:extLst>
          </p:cNvPr>
          <p:cNvSpPr txBox="1"/>
          <p:nvPr/>
        </p:nvSpPr>
        <p:spPr>
          <a:xfrm>
            <a:off x="838200" y="1881188"/>
            <a:ext cx="10515600" cy="4352544"/>
          </a:xfrm>
          <a:prstGeom prst="rect">
            <a:avLst/>
          </a:prstGeom>
          <a:noFill/>
          <a:ln>
            <a:noFill/>
          </a:ln>
        </p:spPr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</a:rPr>
              <a:t>Visualization for overall  structure and subtrees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</a:rPr>
              <a:t>Interactive visualization for assigned code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dk1"/>
              </a:solidFill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800" b="0" i="0" u="none" strike="noStrike" cap="none" dirty="0">
              <a:solidFill>
                <a:schemeClr val="dk1"/>
              </a:solidFill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dk1"/>
              </a:solidFill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</a:rPr>
              <a:t>Both are Directed Acyclic Graph (DAG)</a:t>
            </a:r>
          </a:p>
        </p:txBody>
      </p:sp>
    </p:spTree>
    <p:extLst>
      <p:ext uri="{BB962C8B-B14F-4D97-AF65-F5344CB8AC3E}">
        <p14:creationId xmlns:p14="http://schemas.microsoft.com/office/powerpoint/2010/main" val="675662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F6116406-E8C7-F5D5-4499-7ACDF7A71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F91D0A9A-9F64-979E-3E0D-B646A72327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6065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r>
              <a:rPr lang="en-US" sz="2400" dirty="0"/>
              <a:t>Codebook Analysis</a:t>
            </a:r>
            <a:endParaRPr sz="2400" dirty="0"/>
          </a:p>
        </p:txBody>
      </p:sp>
      <p:graphicFrame>
        <p:nvGraphicFramePr>
          <p:cNvPr id="114" name="Google Shape;114;p2">
            <a:extLst>
              <a:ext uri="{FF2B5EF4-FFF2-40B4-BE49-F238E27FC236}">
                <a16:creationId xmlns:a16="http://schemas.microsoft.com/office/drawing/2014/main" id="{4C2977A6-3432-575E-E4B1-7537C7A895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2635748"/>
              </p:ext>
            </p:extLst>
          </p:nvPr>
        </p:nvGraphicFramePr>
        <p:xfrm>
          <a:off x="901287" y="1679113"/>
          <a:ext cx="10389425" cy="4883833"/>
        </p:xfrm>
        <a:graphic>
          <a:graphicData uri="http://schemas.openxmlformats.org/drawingml/2006/table">
            <a:tbl>
              <a:tblPr firstRow="1" bandRow="1">
                <a:noFill/>
                <a:tableStyleId>{AA882BC2-12C2-47DE-AB68-3603F239A5B8}</a:tableStyleId>
              </a:tblPr>
              <a:tblGrid>
                <a:gridCol w="23238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2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2808">
                  <a:extLst>
                    <a:ext uri="{9D8B030D-6E8A-4147-A177-3AD203B41FA5}">
                      <a16:colId xmlns:a16="http://schemas.microsoft.com/office/drawing/2014/main" val="1006159897"/>
                    </a:ext>
                  </a:extLst>
                </a:gridCol>
              </a:tblGrid>
              <a:tr h="60751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/>
                        <a:t>Aspect</a:t>
                      </a:r>
                      <a:endParaRPr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EPPC Codebook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PV Codebook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7514">
                <a:tc>
                  <a:txBody>
                    <a:bodyPr/>
                    <a:lstStyle/>
                    <a:p>
                      <a:pPr algn="l"/>
                      <a:r>
                        <a:rPr lang="en-US" b="0" dirty="0"/>
                        <a:t>Focus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Patient-Provider Communication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Patient Voice (</a:t>
                      </a:r>
                      <a:r>
                        <a:rPr lang="en-US" dirty="0" err="1"/>
                        <a:t>SDoH</a:t>
                      </a:r>
                      <a:r>
                        <a:rPr lang="en-US" dirty="0"/>
                        <a:t> Themes)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1235">
                <a:tc>
                  <a:txBody>
                    <a:bodyPr/>
                    <a:lstStyle/>
                    <a:p>
                      <a:pPr algn="l"/>
                      <a:r>
                        <a:rPr lang="en-US" b="0" dirty="0"/>
                        <a:t>Structure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Dialogue </a:t>
                      </a:r>
                      <a:r>
                        <a:rPr lang="fr-FR" dirty="0" err="1"/>
                        <a:t>acts</a:t>
                      </a:r>
                      <a:r>
                        <a:rPr lang="fr-FR" dirty="0"/>
                        <a:t>: </a:t>
                      </a:r>
                      <a:r>
                        <a:rPr lang="fr-FR" dirty="0" err="1"/>
                        <a:t>paired</a:t>
                      </a:r>
                      <a:r>
                        <a:rPr lang="fr-FR" dirty="0"/>
                        <a:t> Patient/Provider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Thematic </a:t>
                      </a:r>
                      <a:r>
                        <a:rPr lang="en-US" dirty="0" err="1"/>
                        <a:t>SDoH</a:t>
                      </a:r>
                      <a:r>
                        <a:rPr lang="en-US" dirty="0"/>
                        <a:t> codes with sub-categories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7514">
                <a:tc>
                  <a:txBody>
                    <a:bodyPr/>
                    <a:lstStyle/>
                    <a:p>
                      <a:pPr algn="l"/>
                      <a:r>
                        <a:rPr lang="en-US" b="0" dirty="0"/>
                        <a:t>Label Type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Functional intent of utterances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Semantic content of messages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7514">
                <a:tc>
                  <a:txBody>
                    <a:bodyPr/>
                    <a:lstStyle/>
                    <a:p>
                      <a:pPr algn="l"/>
                      <a:r>
                        <a:rPr lang="en-US" b="0" dirty="0"/>
                        <a:t>Granularity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Often sentence-level with social function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Message- or sub-message-level with topics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75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dirty="0"/>
                        <a:t>Examples Provided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400" b="0" i="0" u="none" strike="noStrike" cap="none" dirty="0">
                        <a:solidFill>
                          <a:schemeClr val="dk1"/>
                        </a:solidFill>
                        <a:latin typeface="Tenorite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Yes (for both speaker roles)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Yes (under each sub-theme)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764561830"/>
                  </a:ext>
                </a:extLst>
              </a:tr>
              <a:tr h="6075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dirty="0"/>
                        <a:t>Overlap Potential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400" b="0" i="0" u="none" strike="noStrike" cap="none" dirty="0">
                        <a:solidFill>
                          <a:schemeClr val="dk1"/>
                        </a:solidFill>
                        <a:latin typeface="Tenorite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Some codes touch on </a:t>
                      </a:r>
                      <a:r>
                        <a:rPr lang="en-US" dirty="0" err="1"/>
                        <a:t>SDoH</a:t>
                      </a:r>
                      <a:r>
                        <a:rPr lang="en-US" dirty="0"/>
                        <a:t> topics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Some overlap with EPPC (e.g., information giving)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215319392"/>
                  </a:ext>
                </a:extLst>
              </a:tr>
              <a:tr h="6075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dirty="0"/>
                        <a:t>Use Case Suitability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400" b="0" i="0" u="none" strike="noStrike" cap="none" dirty="0">
                        <a:solidFill>
                          <a:schemeClr val="dk1"/>
                        </a:solidFill>
                        <a:latin typeface="Tenorite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Dialogue modeling, sentiment, behavior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Topic mining, multi-label classification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490596897"/>
                  </a:ext>
                </a:extLst>
              </a:tr>
            </a:tbl>
          </a:graphicData>
        </a:graphic>
      </p:graphicFrame>
      <p:sp>
        <p:nvSpPr>
          <p:cNvPr id="115" name="Google Shape;115;p2">
            <a:extLst>
              <a:ext uri="{FF2B5EF4-FFF2-40B4-BE49-F238E27FC236}">
                <a16:creationId xmlns:a16="http://schemas.microsoft.com/office/drawing/2014/main" id="{D2DB69D9-4368-776B-C252-8C892BE71CF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373350" y="6356349"/>
            <a:ext cx="987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96767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C409B-B998-52AD-A98B-50FCBEC62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B2EC192-7B58-6DE4-4A9B-7C7DD0B57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0" i="0" u="none" strike="noStrike" cap="none" dirty="0">
                <a:solidFill>
                  <a:schemeClr val="bg1"/>
                </a:solidFill>
                <a:latin typeface="Tenorite"/>
                <a:sym typeface="Arial"/>
              </a:rPr>
              <a:t>Working on</a:t>
            </a:r>
            <a:br>
              <a:rPr lang="en-US" sz="2800" b="0" i="0" u="none" strike="noStrike" cap="none" dirty="0">
                <a:solidFill>
                  <a:schemeClr val="bg1"/>
                </a:solidFill>
                <a:latin typeface="Tenorite"/>
                <a:sym typeface="Arial"/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DF56AE-C3E8-0D45-CE0D-852B744695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dirty="0"/>
              <a:t>Data analysis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dirty="0"/>
              <a:t>Stats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dirty="0"/>
              <a:t>Data processing pipeline for prototype (first draft)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54051A-E4EF-641E-FAD5-A7A2405FA6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972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00CD6-DA87-8E57-EF16-B61FEF15A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32CC1-36BF-A680-8A11-29EE0A2BF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wrap="square" anchor="ctr">
            <a:normAutofit/>
          </a:bodyPr>
          <a:lstStyle/>
          <a:p>
            <a:pPr marL="228600"/>
            <a:r>
              <a:rPr lang="en-US" dirty="0"/>
              <a:t>Data analysis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B41B19-A6D2-679F-E137-CA9F5ED8D37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373350" y="6356349"/>
            <a:ext cx="987552" cy="365125"/>
          </a:xfrm>
        </p:spPr>
        <p:txBody>
          <a:bodyPr wrap="square" anchor="ctr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mtClean="0"/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7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98F169-7D61-1E24-8913-2CAD43D0058D}"/>
              </a:ext>
            </a:extLst>
          </p:cNvPr>
          <p:cNvSpPr/>
          <p:nvPr/>
        </p:nvSpPr>
        <p:spPr>
          <a:xfrm>
            <a:off x="1657350" y="2038350"/>
            <a:ext cx="2000250" cy="66436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Message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BDCD37-CEAD-9620-DB04-AB74D3686B61}"/>
              </a:ext>
            </a:extLst>
          </p:cNvPr>
          <p:cNvSpPr/>
          <p:nvPr/>
        </p:nvSpPr>
        <p:spPr>
          <a:xfrm>
            <a:off x="1657350" y="3226592"/>
            <a:ext cx="2000250" cy="66436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Sentence 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889A33-6048-4704-6CB3-A7E1596F5370}"/>
              </a:ext>
            </a:extLst>
          </p:cNvPr>
          <p:cNvSpPr/>
          <p:nvPr/>
        </p:nvSpPr>
        <p:spPr>
          <a:xfrm>
            <a:off x="3931444" y="3226594"/>
            <a:ext cx="2000250" cy="66436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Sentence 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7C4EF2-39E0-D4B9-36FB-575DEAE1C2F1}"/>
              </a:ext>
            </a:extLst>
          </p:cNvPr>
          <p:cNvSpPr/>
          <p:nvPr/>
        </p:nvSpPr>
        <p:spPr>
          <a:xfrm>
            <a:off x="7391400" y="3226593"/>
            <a:ext cx="2000250" cy="66436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Sentence 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E901BC-3DAD-6A9B-2239-7B14867EADF7}"/>
              </a:ext>
            </a:extLst>
          </p:cNvPr>
          <p:cNvSpPr txBox="1"/>
          <p:nvPr/>
        </p:nvSpPr>
        <p:spPr>
          <a:xfrm>
            <a:off x="6260308" y="3167390"/>
            <a:ext cx="11477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……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82E305-7ACA-787B-CA59-72357DFA73C1}"/>
              </a:ext>
            </a:extLst>
          </p:cNvPr>
          <p:cNvSpPr/>
          <p:nvPr/>
        </p:nvSpPr>
        <p:spPr>
          <a:xfrm>
            <a:off x="1657350" y="4564855"/>
            <a:ext cx="2000250" cy="66436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Sub-Sentence 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350901-3F99-4CD5-12CB-A7F7317FECE9}"/>
              </a:ext>
            </a:extLst>
          </p:cNvPr>
          <p:cNvSpPr/>
          <p:nvPr/>
        </p:nvSpPr>
        <p:spPr>
          <a:xfrm>
            <a:off x="3931444" y="4564854"/>
            <a:ext cx="2000250" cy="66436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Sub-Sentence 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CA942EA-984F-2B5F-D45F-EEF650859A1A}"/>
              </a:ext>
            </a:extLst>
          </p:cNvPr>
          <p:cNvSpPr/>
          <p:nvPr/>
        </p:nvSpPr>
        <p:spPr>
          <a:xfrm>
            <a:off x="6955631" y="4564854"/>
            <a:ext cx="2000250" cy="66436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Sub-Sentence 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1E8EC3-0D83-1701-2BA9-60774F9ED410}"/>
              </a:ext>
            </a:extLst>
          </p:cNvPr>
          <p:cNvSpPr txBox="1"/>
          <p:nvPr/>
        </p:nvSpPr>
        <p:spPr>
          <a:xfrm>
            <a:off x="6005515" y="4564854"/>
            <a:ext cx="11477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……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5287510-23BA-56B9-F511-4F00A9E31DF4}"/>
              </a:ext>
            </a:extLst>
          </p:cNvPr>
          <p:cNvSpPr/>
          <p:nvPr/>
        </p:nvSpPr>
        <p:spPr>
          <a:xfrm>
            <a:off x="1657350" y="5828507"/>
            <a:ext cx="2000250" cy="66436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Phrase 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12105C0-4E50-6DA5-757F-FD384C95FFCD}"/>
              </a:ext>
            </a:extLst>
          </p:cNvPr>
          <p:cNvSpPr/>
          <p:nvPr/>
        </p:nvSpPr>
        <p:spPr>
          <a:xfrm>
            <a:off x="4955381" y="5813424"/>
            <a:ext cx="2000250" cy="66436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Phrase 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AE767A-7BD9-92F4-2836-333F93450AE4}"/>
              </a:ext>
            </a:extLst>
          </p:cNvPr>
          <p:cNvSpPr txBox="1"/>
          <p:nvPr/>
        </p:nvSpPr>
        <p:spPr>
          <a:xfrm>
            <a:off x="3759117" y="5813424"/>
            <a:ext cx="11477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……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4838E96-099B-8EF3-5274-96A746EE1276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2657475" y="2702719"/>
            <a:ext cx="0" cy="523873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9AD0C1B-041A-628C-A00E-7C8276B171A5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>
            <a:off x="2657475" y="2702719"/>
            <a:ext cx="2274094" cy="52387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F24249F-6FA3-6C8D-92CC-AEF41FDC4A1F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2657475" y="2702719"/>
            <a:ext cx="5734050" cy="52387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144D6C4-A291-919F-CF2B-CCA23B1D3F18}"/>
              </a:ext>
            </a:extLst>
          </p:cNvPr>
          <p:cNvCxnSpPr>
            <a:cxnSpLocks/>
            <a:stCxn id="6" idx="2"/>
            <a:endCxn id="12" idx="0"/>
          </p:cNvCxnSpPr>
          <p:nvPr/>
        </p:nvCxnSpPr>
        <p:spPr>
          <a:xfrm>
            <a:off x="2657475" y="3890961"/>
            <a:ext cx="0" cy="67389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F498EF5-007B-63FF-4D79-0B770274D8DF}"/>
              </a:ext>
            </a:extLst>
          </p:cNvPr>
          <p:cNvCxnSpPr>
            <a:cxnSpLocks/>
            <a:stCxn id="6" idx="2"/>
            <a:endCxn id="13" idx="0"/>
          </p:cNvCxnSpPr>
          <p:nvPr/>
        </p:nvCxnSpPr>
        <p:spPr>
          <a:xfrm>
            <a:off x="2657475" y="3890961"/>
            <a:ext cx="2274094" cy="673893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08D74A8-30BC-164A-8007-F8CC513709E2}"/>
              </a:ext>
            </a:extLst>
          </p:cNvPr>
          <p:cNvCxnSpPr>
            <a:cxnSpLocks/>
            <a:stCxn id="6" idx="2"/>
            <a:endCxn id="14" idx="0"/>
          </p:cNvCxnSpPr>
          <p:nvPr/>
        </p:nvCxnSpPr>
        <p:spPr>
          <a:xfrm>
            <a:off x="2657475" y="3890961"/>
            <a:ext cx="5298281" cy="673893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F4C9178-E342-D333-0CEE-8626E2A9AEA9}"/>
              </a:ext>
            </a:extLst>
          </p:cNvPr>
          <p:cNvCxnSpPr>
            <a:cxnSpLocks/>
            <a:stCxn id="12" idx="2"/>
            <a:endCxn id="16" idx="0"/>
          </p:cNvCxnSpPr>
          <p:nvPr/>
        </p:nvCxnSpPr>
        <p:spPr>
          <a:xfrm>
            <a:off x="2657475" y="5229224"/>
            <a:ext cx="0" cy="599283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089FF06-8FB5-895C-3915-CCA3C126A763}"/>
              </a:ext>
            </a:extLst>
          </p:cNvPr>
          <p:cNvCxnSpPr>
            <a:cxnSpLocks/>
            <a:stCxn id="12" idx="2"/>
            <a:endCxn id="18" idx="0"/>
          </p:cNvCxnSpPr>
          <p:nvPr/>
        </p:nvCxnSpPr>
        <p:spPr>
          <a:xfrm>
            <a:off x="2657475" y="5229224"/>
            <a:ext cx="3298031" cy="58420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3483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0C652-8E0D-FB43-69BA-BBB04D674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E0129-A5C7-8ADF-16A0-2EA5F0D10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wrap="square" anchor="ctr">
            <a:normAutofit/>
          </a:bodyPr>
          <a:lstStyle/>
          <a:p>
            <a:pPr marL="228600"/>
            <a:r>
              <a:rPr lang="en-US" dirty="0"/>
              <a:t>Stats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789895A-CF9A-254B-259E-EB786B65C9F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373350" y="6356349"/>
            <a:ext cx="987552" cy="365125"/>
          </a:xfrm>
        </p:spPr>
        <p:txBody>
          <a:bodyPr wrap="square" anchor="ctr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mtClean="0"/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B80310-B967-A5B0-6663-7EC7E0109EA7}"/>
              </a:ext>
            </a:extLst>
          </p:cNvPr>
          <p:cNvSpPr txBox="1"/>
          <p:nvPr/>
        </p:nvSpPr>
        <p:spPr>
          <a:xfrm>
            <a:off x="845302" y="1859757"/>
            <a:ext cx="10515600" cy="4352544"/>
          </a:xfrm>
          <a:prstGeom prst="rect">
            <a:avLst/>
          </a:prstGeom>
          <a:noFill/>
          <a:ln>
            <a:noFill/>
          </a:ln>
        </p:spPr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</a:rPr>
              <a:t># of annotations in total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</a:rPr>
              <a:t># of sentences w/annotations / # of sentences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dk1"/>
                </a:solidFill>
              </a:rPr>
              <a:t># of sub-sentences w/annotations / # of sub-sentences</a:t>
            </a:r>
            <a:r>
              <a:rPr lang="zh-TW" altLang="en-US" sz="1800" dirty="0">
                <a:solidFill>
                  <a:schemeClr val="dk1"/>
                </a:solidFill>
              </a:rPr>
              <a:t>  </a:t>
            </a:r>
            <a:r>
              <a:rPr lang="en-US" altLang="zh-TW" sz="1800" dirty="0">
                <a:solidFill>
                  <a:schemeClr val="dk1"/>
                </a:solidFill>
              </a:rPr>
              <a:t>(clause level)</a:t>
            </a:r>
            <a:endParaRPr lang="en-US" sz="1800" dirty="0">
              <a:solidFill>
                <a:schemeClr val="dk1"/>
              </a:solidFill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800" b="0" i="0" u="none" strike="noStrike" cap="none" dirty="0">
              <a:solidFill>
                <a:schemeClr val="dk1"/>
              </a:solidFill>
            </a:endParaRPr>
          </a:p>
          <a:p>
            <a:pPr>
              <a:spcAft>
                <a:spcPts val="600"/>
              </a:spcAft>
            </a:pPr>
            <a:r>
              <a:rPr lang="en-US" sz="1800" b="1" dirty="0">
                <a:solidFill>
                  <a:schemeClr val="dk1"/>
                </a:solidFill>
              </a:rPr>
              <a:t>Explicit info / implicit info  (objective / subjective)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</a:rPr>
              <a:t># sub-sentences with factual info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</a:rPr>
              <a:t># sub-sentences with opinion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dk1"/>
              </a:solidFill>
            </a:endParaRPr>
          </a:p>
          <a:p>
            <a:pPr>
              <a:spcAft>
                <a:spcPts val="600"/>
              </a:spcAft>
            </a:pPr>
            <a:r>
              <a:rPr lang="en-US" sz="1800" b="1" i="0" u="none" strike="noStrike" cap="none" dirty="0">
                <a:solidFill>
                  <a:schemeClr val="dk1"/>
                </a:solidFill>
              </a:rPr>
              <a:t>Context dependency (not sure about this)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</a:rPr>
              <a:t># sub-sentences require context for interpretation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dk1"/>
                </a:solidFill>
              </a:rPr>
              <a:t># sub-sentences are context independent</a:t>
            </a:r>
            <a:endParaRPr lang="en-US" sz="1800" b="0" i="0" u="none" strike="noStrike" cap="none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4362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343FA-7E4C-7573-2056-031CB7D2E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37F690-5288-BFE2-A377-71A5B95605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pic>
        <p:nvPicPr>
          <p:cNvPr id="5" name="Picture 4" descr="A computer screen shot of a black screen&#10;&#10;AI-generated content may be incorrect.">
            <a:extLst>
              <a:ext uri="{FF2B5EF4-FFF2-40B4-BE49-F238E27FC236}">
                <a16:creationId xmlns:a16="http://schemas.microsoft.com/office/drawing/2014/main" id="{03783513-153A-A271-30D8-BD984F0230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259" y="2944114"/>
            <a:ext cx="4290432" cy="1455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8584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851FF-D5A4-EBFA-3449-D75936AF3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A1064-C927-2035-CD05-A5C3ED912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wrap="square" anchor="ctr">
            <a:normAutofit/>
          </a:bodyPr>
          <a:lstStyle/>
          <a:p>
            <a:pPr marL="228600"/>
            <a:r>
              <a:rPr lang="en-US" dirty="0"/>
              <a:t>Sentence Slicing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57190D-FE72-2C82-430A-965AA74E509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373350" y="6356349"/>
            <a:ext cx="987552" cy="365125"/>
          </a:xfrm>
        </p:spPr>
        <p:txBody>
          <a:bodyPr wrap="square" anchor="ctr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mtClean="0"/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10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C73408-2F6D-80D4-EF26-50CA2F9D2FFF}"/>
              </a:ext>
            </a:extLst>
          </p:cNvPr>
          <p:cNvSpPr txBox="1"/>
          <p:nvPr/>
        </p:nvSpPr>
        <p:spPr>
          <a:xfrm>
            <a:off x="845302" y="1859757"/>
            <a:ext cx="10515600" cy="4352544"/>
          </a:xfrm>
          <a:prstGeom prst="rect">
            <a:avLst/>
          </a:prstGeom>
          <a:noFill/>
          <a:ln>
            <a:noFill/>
          </a:ln>
        </p:spPr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1800" b="0" i="0" u="none" strike="noStrike" cap="none" dirty="0">
                <a:solidFill>
                  <a:schemeClr val="dk1"/>
                </a:solidFill>
              </a:rPr>
              <a:t>Steps</a:t>
            </a:r>
            <a:endParaRPr lang="en-US" sz="1800" b="0" i="0" u="none" strike="noStrike" cap="none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1403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37724-9EBB-1C38-8AB7-468157403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9CF16-95EF-5209-1935-3D6546FA0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wrap="square" anchor="ctr">
            <a:normAutofit/>
          </a:bodyPr>
          <a:lstStyle/>
          <a:p>
            <a:pPr marL="228600"/>
            <a:r>
              <a:rPr lang="en-US" dirty="0"/>
              <a:t>Sub-sentence Slicing (clause-level)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2DD5-E962-CD81-5D31-4C72FDD0E14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373350" y="6356349"/>
            <a:ext cx="987552" cy="365125"/>
          </a:xfrm>
        </p:spPr>
        <p:txBody>
          <a:bodyPr wrap="square" anchor="ctr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mtClean="0"/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11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4398AF-7F42-6D02-063E-FF823ADAD851}"/>
              </a:ext>
            </a:extLst>
          </p:cNvPr>
          <p:cNvSpPr txBox="1"/>
          <p:nvPr/>
        </p:nvSpPr>
        <p:spPr>
          <a:xfrm>
            <a:off x="845302" y="1859757"/>
            <a:ext cx="10515600" cy="4352544"/>
          </a:xfrm>
          <a:prstGeom prst="rect">
            <a:avLst/>
          </a:prstGeom>
          <a:noFill/>
          <a:ln>
            <a:noFill/>
          </a:ln>
        </p:spPr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</a:rPr>
              <a:t>Steps</a:t>
            </a:r>
          </a:p>
        </p:txBody>
      </p:sp>
    </p:spTree>
    <p:extLst>
      <p:ext uri="{BB962C8B-B14F-4D97-AF65-F5344CB8AC3E}">
        <p14:creationId xmlns:p14="http://schemas.microsoft.com/office/powerpoint/2010/main" val="21949236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DD126-8AB1-70A6-9995-18B3E034C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AEE4C-9F4D-AC3A-91BB-8ACEDDD53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wrap="square" anchor="ctr">
            <a:normAutofit/>
          </a:bodyPr>
          <a:lstStyle/>
          <a:p>
            <a:pPr marL="228600"/>
            <a:r>
              <a:rPr lang="en-US" dirty="0"/>
              <a:t>Data preprocessing for analysis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DFA83A-716F-93C6-DAE3-28E5396C8AC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373350" y="6356349"/>
            <a:ext cx="987552" cy="365125"/>
          </a:xfrm>
        </p:spPr>
        <p:txBody>
          <a:bodyPr wrap="square" anchor="ctr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mtClean="0"/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12</a:t>
            </a:fld>
            <a:endParaRPr lang="en-US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8CFDEB6F-06E9-660E-6A37-910F88AA1B27}"/>
              </a:ext>
            </a:extLst>
          </p:cNvPr>
          <p:cNvGrpSpPr/>
          <p:nvPr/>
        </p:nvGrpSpPr>
        <p:grpSpPr>
          <a:xfrm>
            <a:off x="200025" y="1278731"/>
            <a:ext cx="11641932" cy="5479513"/>
            <a:chOff x="200025" y="1278731"/>
            <a:chExt cx="11641932" cy="5479513"/>
          </a:xfrm>
        </p:grpSpPr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4D7AEF83-C590-A453-9CFD-58F08B709325}"/>
                </a:ext>
              </a:extLst>
            </p:cNvPr>
            <p:cNvSpPr/>
            <p:nvPr/>
          </p:nvSpPr>
          <p:spPr>
            <a:xfrm>
              <a:off x="200025" y="1278731"/>
              <a:ext cx="8372474" cy="5479513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b="1" dirty="0"/>
                <a:t>Data Preprocessing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F77AB04-8213-2502-453D-8F4488AF14A9}"/>
                </a:ext>
              </a:extLst>
            </p:cNvPr>
            <p:cNvSpPr/>
            <p:nvPr/>
          </p:nvSpPr>
          <p:spPr>
            <a:xfrm>
              <a:off x="2416965" y="1785076"/>
              <a:ext cx="1400175" cy="74295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Label Mapping</a:t>
              </a:r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EEDE906-0F34-7A5E-C205-FD3DCE2281C8}"/>
                </a:ext>
              </a:extLst>
            </p:cNvPr>
            <p:cNvSpPr/>
            <p:nvPr/>
          </p:nvSpPr>
          <p:spPr>
            <a:xfrm>
              <a:off x="6103190" y="4166202"/>
              <a:ext cx="1400175" cy="74295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Structure Analysis</a:t>
              </a:r>
              <a:endParaRPr lang="en-US" dirty="0"/>
            </a:p>
          </p:txBody>
        </p:sp>
        <p:sp>
          <p:nvSpPr>
            <p:cNvPr id="10" name="Cylinder 9">
              <a:extLst>
                <a:ext uri="{FF2B5EF4-FFF2-40B4-BE49-F238E27FC236}">
                  <a16:creationId xmlns:a16="http://schemas.microsoft.com/office/drawing/2014/main" id="{AE8FB21D-99ED-957C-A837-DA51848DE619}"/>
                </a:ext>
              </a:extLst>
            </p:cNvPr>
            <p:cNvSpPr/>
            <p:nvPr/>
          </p:nvSpPr>
          <p:spPr>
            <a:xfrm>
              <a:off x="5592412" y="3225010"/>
              <a:ext cx="2421731" cy="742950"/>
            </a:xfrm>
            <a:prstGeom prst="can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Raw Data</a:t>
              </a:r>
            </a:p>
          </p:txBody>
        </p:sp>
        <p:sp>
          <p:nvSpPr>
            <p:cNvPr id="11" name="Flowchart: Multidocument 10">
              <a:extLst>
                <a:ext uri="{FF2B5EF4-FFF2-40B4-BE49-F238E27FC236}">
                  <a16:creationId xmlns:a16="http://schemas.microsoft.com/office/drawing/2014/main" id="{FEB3F3E7-7F52-86DF-CF60-6C3F1EE75395}"/>
                </a:ext>
              </a:extLst>
            </p:cNvPr>
            <p:cNvSpPr/>
            <p:nvPr/>
          </p:nvSpPr>
          <p:spPr>
            <a:xfrm>
              <a:off x="3291481" y="2887527"/>
              <a:ext cx="1643062" cy="1157288"/>
            </a:xfrm>
            <a:prstGeom prst="flowChartMultidocumen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Annotations (Ground Truth)</a:t>
              </a:r>
            </a:p>
          </p:txBody>
        </p:sp>
        <p:sp>
          <p:nvSpPr>
            <p:cNvPr id="12" name="Flowchart: Document 11">
              <a:extLst>
                <a:ext uri="{FF2B5EF4-FFF2-40B4-BE49-F238E27FC236}">
                  <a16:creationId xmlns:a16="http://schemas.microsoft.com/office/drawing/2014/main" id="{51DF7F3A-6654-4149-7CEB-DC060786ABD6}"/>
                </a:ext>
              </a:extLst>
            </p:cNvPr>
            <p:cNvSpPr/>
            <p:nvPr/>
          </p:nvSpPr>
          <p:spPr>
            <a:xfrm>
              <a:off x="1216815" y="3020084"/>
              <a:ext cx="1400175" cy="892174"/>
            </a:xfrm>
            <a:prstGeom prst="flowChartDocumen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Codebook</a:t>
              </a: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79AF6DC9-1954-E7D7-CE52-F6CC4C206256}"/>
                </a:ext>
              </a:extLst>
            </p:cNvPr>
            <p:cNvSpPr/>
            <p:nvPr/>
          </p:nvSpPr>
          <p:spPr>
            <a:xfrm>
              <a:off x="350044" y="5222078"/>
              <a:ext cx="5986462" cy="145459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b"/>
            <a:lstStyle/>
            <a:p>
              <a:pPr algn="ctr"/>
              <a:r>
                <a:rPr lang="en-US" altLang="zh-TW" b="1" dirty="0"/>
                <a:t>Content &amp; Quality Check</a:t>
              </a:r>
              <a:endParaRPr lang="en-US" b="1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8EEEBCF-F3EA-E68F-F79B-35A193048A2E}"/>
                </a:ext>
              </a:extLst>
            </p:cNvPr>
            <p:cNvSpPr/>
            <p:nvPr/>
          </p:nvSpPr>
          <p:spPr>
            <a:xfrm>
              <a:off x="4695825" y="5484009"/>
              <a:ext cx="1400175" cy="74295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Structure Alignment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6B868238-2F49-5052-6E9D-538B2798DC55}"/>
                </a:ext>
              </a:extLst>
            </p:cNvPr>
            <p:cNvCxnSpPr>
              <a:cxnSpLocks/>
              <a:stCxn id="12" idx="2"/>
              <a:endCxn id="7" idx="0"/>
            </p:cNvCxnSpPr>
            <p:nvPr/>
          </p:nvCxnSpPr>
          <p:spPr>
            <a:xfrm flipH="1">
              <a:off x="1138236" y="3853275"/>
              <a:ext cx="778667" cy="1630734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D6F2E34-09EA-F92B-F16C-002E5876F116}"/>
                </a:ext>
              </a:extLst>
            </p:cNvPr>
            <p:cNvCxnSpPr>
              <a:cxnSpLocks/>
              <a:stCxn id="12" idx="0"/>
              <a:endCxn id="8" idx="2"/>
            </p:cNvCxnSpPr>
            <p:nvPr/>
          </p:nvCxnSpPr>
          <p:spPr>
            <a:xfrm flipV="1">
              <a:off x="1916903" y="2528026"/>
              <a:ext cx="1200150" cy="49205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0BD64115-51A4-E4CA-5F70-F8B575A77644}"/>
                </a:ext>
              </a:extLst>
            </p:cNvPr>
            <p:cNvCxnSpPr>
              <a:cxnSpLocks/>
              <a:stCxn id="11" idx="0"/>
              <a:endCxn id="8" idx="2"/>
            </p:cNvCxnSpPr>
            <p:nvPr/>
          </p:nvCxnSpPr>
          <p:spPr>
            <a:xfrm flipH="1" flipV="1">
              <a:off x="3117053" y="2528026"/>
              <a:ext cx="1108996" cy="359501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35F1E477-8A7C-9106-467D-A2AEA6E5E634}"/>
                </a:ext>
              </a:extLst>
            </p:cNvPr>
            <p:cNvCxnSpPr>
              <a:cxnSpLocks/>
              <a:stCxn id="11" idx="2"/>
              <a:endCxn id="13" idx="0"/>
            </p:cNvCxnSpPr>
            <p:nvPr/>
          </p:nvCxnSpPr>
          <p:spPr>
            <a:xfrm>
              <a:off x="3998758" y="4000988"/>
              <a:ext cx="1397155" cy="1483021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8687B8E3-487F-9BA2-3CD5-316880E3275F}"/>
                </a:ext>
              </a:extLst>
            </p:cNvPr>
            <p:cNvCxnSpPr>
              <a:cxnSpLocks/>
              <a:stCxn id="9" idx="2"/>
              <a:endCxn id="13" idx="0"/>
            </p:cNvCxnSpPr>
            <p:nvPr/>
          </p:nvCxnSpPr>
          <p:spPr>
            <a:xfrm flipH="1">
              <a:off x="5395913" y="4909152"/>
              <a:ext cx="1407365" cy="574857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93C97F5D-D692-7834-2E85-2F2B59A01547}"/>
                </a:ext>
              </a:extLst>
            </p:cNvPr>
            <p:cNvCxnSpPr>
              <a:cxnSpLocks/>
              <a:stCxn id="10" idx="3"/>
              <a:endCxn id="9" idx="0"/>
            </p:cNvCxnSpPr>
            <p:nvPr/>
          </p:nvCxnSpPr>
          <p:spPr>
            <a:xfrm>
              <a:off x="6803278" y="3967960"/>
              <a:ext cx="0" cy="19824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C4FBCF5-CE05-719F-EC6C-04771F065E45}"/>
                </a:ext>
              </a:extLst>
            </p:cNvPr>
            <p:cNvSpPr/>
            <p:nvPr/>
          </p:nvSpPr>
          <p:spPr>
            <a:xfrm>
              <a:off x="2545600" y="5484009"/>
              <a:ext cx="1400175" cy="74295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Stats &amp; Visualization</a:t>
              </a:r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1139A9EB-E530-DE1F-58A2-9ED475933273}"/>
                </a:ext>
              </a:extLst>
            </p:cNvPr>
            <p:cNvCxnSpPr>
              <a:cxnSpLocks/>
              <a:stCxn id="11" idx="2"/>
              <a:endCxn id="43" idx="0"/>
            </p:cNvCxnSpPr>
            <p:nvPr/>
          </p:nvCxnSpPr>
          <p:spPr>
            <a:xfrm flipH="1">
              <a:off x="3245688" y="4000988"/>
              <a:ext cx="753070" cy="1483021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4E1CB51C-DEC3-BDAB-3B29-A62D964ECEDE}"/>
                </a:ext>
              </a:extLst>
            </p:cNvPr>
            <p:cNvSpPr txBox="1"/>
            <p:nvPr/>
          </p:nvSpPr>
          <p:spPr>
            <a:xfrm>
              <a:off x="2715856" y="6189029"/>
              <a:ext cx="13971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rgbClr val="0070C0"/>
                  </a:solidFill>
                </a:rPr>
                <a:t>Distribution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DC680ACC-C226-55A8-11C6-EDE759F25A34}"/>
                </a:ext>
              </a:extLst>
            </p:cNvPr>
            <p:cNvSpPr txBox="1"/>
            <p:nvPr/>
          </p:nvSpPr>
          <p:spPr>
            <a:xfrm>
              <a:off x="611423" y="6211891"/>
              <a:ext cx="13971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rgbClr val="0070C0"/>
                  </a:solidFill>
                </a:rPr>
                <a:t>Structure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F280E39C-CD22-42A1-2E9C-0950EC71CFF5}"/>
                </a:ext>
              </a:extLst>
            </p:cNvPr>
            <p:cNvSpPr txBox="1"/>
            <p:nvPr/>
          </p:nvSpPr>
          <p:spPr>
            <a:xfrm>
              <a:off x="4642842" y="6215010"/>
              <a:ext cx="145315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rgbClr val="0070C0"/>
                  </a:solidFill>
                </a:rPr>
                <a:t>Quality &amp; Semantic validity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D7253FE-A73A-2125-9AB7-CFD30B537A09}"/>
                </a:ext>
              </a:extLst>
            </p:cNvPr>
            <p:cNvSpPr/>
            <p:nvPr/>
          </p:nvSpPr>
          <p:spPr>
            <a:xfrm>
              <a:off x="438148" y="5484009"/>
              <a:ext cx="1400175" cy="74295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Structure Visualization</a:t>
              </a:r>
              <a:endParaRPr lang="en-US" dirty="0"/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33688876-E6D7-2962-C74E-B552F26B9962}"/>
                </a:ext>
              </a:extLst>
            </p:cNvPr>
            <p:cNvSpPr txBox="1"/>
            <p:nvPr/>
          </p:nvSpPr>
          <p:spPr>
            <a:xfrm>
              <a:off x="2384840" y="1509531"/>
              <a:ext cx="18132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>
                  <a:solidFill>
                    <a:srgbClr val="0070C0"/>
                  </a:solidFill>
                </a:rPr>
                <a:t>Label Inconsistency </a:t>
              </a:r>
              <a:endParaRPr lang="en-US" sz="1200" dirty="0">
                <a:solidFill>
                  <a:srgbClr val="0070C0"/>
                </a:solidFill>
              </a:endParaRP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1A946DAB-6DE3-8B5D-003C-DD0C9CF74C38}"/>
                </a:ext>
              </a:extLst>
            </p:cNvPr>
            <p:cNvSpPr txBox="1"/>
            <p:nvPr/>
          </p:nvSpPr>
          <p:spPr>
            <a:xfrm>
              <a:off x="6536551" y="4939319"/>
              <a:ext cx="212405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>
                  <a:solidFill>
                    <a:srgbClr val="0070C0"/>
                  </a:solidFill>
                </a:rPr>
                <a:t>Tokenized:</a:t>
              </a:r>
            </a:p>
            <a:p>
              <a:br>
                <a:rPr lang="en-US" altLang="zh-TW" sz="1200" dirty="0">
                  <a:solidFill>
                    <a:srgbClr val="0070C0"/>
                  </a:solidFill>
                </a:rPr>
              </a:br>
              <a:r>
                <a:rPr lang="en-US" altLang="zh-TW" sz="1200" dirty="0">
                  <a:solidFill>
                    <a:srgbClr val="0070C0"/>
                  </a:solidFill>
                </a:rPr>
                <a:t>Sentence, </a:t>
              </a:r>
              <a:br>
                <a:rPr lang="en-US" altLang="zh-TW" sz="1200" dirty="0">
                  <a:solidFill>
                    <a:srgbClr val="0070C0"/>
                  </a:solidFill>
                </a:rPr>
              </a:br>
              <a:r>
                <a:rPr lang="en-US" altLang="zh-TW" sz="1200" dirty="0">
                  <a:solidFill>
                    <a:srgbClr val="0070C0"/>
                  </a:solidFill>
                </a:rPr>
                <a:t>Sub-sentence (clause level)</a:t>
              </a:r>
              <a:endParaRPr lang="en-US" sz="1200" dirty="0">
                <a:solidFill>
                  <a:srgbClr val="0070C0"/>
                </a:solidFill>
              </a:endParaRPr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734E79D1-86EE-80AE-EDF4-A1C2CE1F61E4}"/>
                </a:ext>
              </a:extLst>
            </p:cNvPr>
            <p:cNvSpPr/>
            <p:nvPr/>
          </p:nvSpPr>
          <p:spPr>
            <a:xfrm>
              <a:off x="9217818" y="3303705"/>
              <a:ext cx="1400175" cy="246661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Graph Construction</a:t>
              </a:r>
              <a:endParaRPr lang="en-US" dirty="0"/>
            </a:p>
          </p:txBody>
        </p: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9A372276-048C-E622-1ECD-91D650D074B2}"/>
                </a:ext>
              </a:extLst>
            </p:cNvPr>
            <p:cNvCxnSpPr>
              <a:cxnSpLocks/>
              <a:stCxn id="9" idx="3"/>
              <a:endCxn id="136" idx="1"/>
            </p:cNvCxnSpPr>
            <p:nvPr/>
          </p:nvCxnSpPr>
          <p:spPr>
            <a:xfrm flipV="1">
              <a:off x="7503365" y="4537011"/>
              <a:ext cx="1714453" cy="666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487BAAE3-6118-6FC6-62D9-3B29B694BCED}"/>
                </a:ext>
              </a:extLst>
            </p:cNvPr>
            <p:cNvCxnSpPr>
              <a:cxnSpLocks/>
              <a:stCxn id="8" idx="3"/>
            </p:cNvCxnSpPr>
            <p:nvPr/>
          </p:nvCxnSpPr>
          <p:spPr>
            <a:xfrm>
              <a:off x="3817140" y="2156551"/>
              <a:ext cx="7049986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5" name="Straight Arrow Connector 144">
              <a:extLst>
                <a:ext uri="{FF2B5EF4-FFF2-40B4-BE49-F238E27FC236}">
                  <a16:creationId xmlns:a16="http://schemas.microsoft.com/office/drawing/2014/main" id="{10C6BCCD-A489-0E8F-28FD-1ECC6D6E0288}"/>
                </a:ext>
              </a:extLst>
            </p:cNvPr>
            <p:cNvCxnSpPr>
              <a:cxnSpLocks/>
            </p:cNvCxnSpPr>
            <p:nvPr/>
          </p:nvCxnSpPr>
          <p:spPr>
            <a:xfrm>
              <a:off x="4934543" y="3072685"/>
              <a:ext cx="5932583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B958783F-AFFD-97B6-FC8C-75BBD066A15C}"/>
                </a:ext>
              </a:extLst>
            </p:cNvPr>
            <p:cNvSpPr/>
            <p:nvPr/>
          </p:nvSpPr>
          <p:spPr>
            <a:xfrm>
              <a:off x="10874317" y="1648030"/>
              <a:ext cx="967640" cy="454099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TW" dirty="0"/>
                <a:t>Similarity &amp; Classification</a:t>
              </a:r>
              <a:endParaRPr lang="en-US" dirty="0"/>
            </a:p>
          </p:txBody>
        </p:sp>
        <p:cxnSp>
          <p:nvCxnSpPr>
            <p:cNvPr id="159" name="Straight Arrow Connector 158">
              <a:extLst>
                <a:ext uri="{FF2B5EF4-FFF2-40B4-BE49-F238E27FC236}">
                  <a16:creationId xmlns:a16="http://schemas.microsoft.com/office/drawing/2014/main" id="{39827D4A-A993-E125-7B0C-198B46D05C56}"/>
                </a:ext>
              </a:extLst>
            </p:cNvPr>
            <p:cNvCxnSpPr>
              <a:cxnSpLocks/>
              <a:stCxn id="136" idx="3"/>
            </p:cNvCxnSpPr>
            <p:nvPr/>
          </p:nvCxnSpPr>
          <p:spPr>
            <a:xfrm>
              <a:off x="10617993" y="4537011"/>
              <a:ext cx="256324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165" name="Picture 164" descr="A green circle with a white tick in it&#10;&#10;AI-generated content may be incorrect.">
            <a:extLst>
              <a:ext uri="{FF2B5EF4-FFF2-40B4-BE49-F238E27FC236}">
                <a16:creationId xmlns:a16="http://schemas.microsoft.com/office/drawing/2014/main" id="{4C01840E-FB1D-29F0-8FCA-A2131C0552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0001" y="6228016"/>
            <a:ext cx="339198" cy="339198"/>
          </a:xfrm>
          <a:prstGeom prst="rect">
            <a:avLst/>
          </a:prstGeom>
        </p:spPr>
      </p:pic>
      <p:pic>
        <p:nvPicPr>
          <p:cNvPr id="166" name="Picture 165" descr="A green circle with a white tick in it&#10;&#10;AI-generated content may be incorrect.">
            <a:extLst>
              <a:ext uri="{FF2B5EF4-FFF2-40B4-BE49-F238E27FC236}">
                <a16:creationId xmlns:a16="http://schemas.microsoft.com/office/drawing/2014/main" id="{D2CA8881-7C74-C15C-F492-EF012C213F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7231" y="6128938"/>
            <a:ext cx="339198" cy="339198"/>
          </a:xfrm>
          <a:prstGeom prst="rect">
            <a:avLst/>
          </a:prstGeom>
        </p:spPr>
      </p:pic>
      <p:pic>
        <p:nvPicPr>
          <p:cNvPr id="167" name="Picture 166" descr="A green circle with a white tick in it&#10;&#10;AI-generated content may be incorrect.">
            <a:extLst>
              <a:ext uri="{FF2B5EF4-FFF2-40B4-BE49-F238E27FC236}">
                <a16:creationId xmlns:a16="http://schemas.microsoft.com/office/drawing/2014/main" id="{CE5AB749-0C5D-9E67-E631-18F44243D6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3879" y="6130626"/>
            <a:ext cx="339198" cy="339198"/>
          </a:xfrm>
          <a:prstGeom prst="rect">
            <a:avLst/>
          </a:prstGeom>
        </p:spPr>
      </p:pic>
      <p:pic>
        <p:nvPicPr>
          <p:cNvPr id="168" name="Picture 167" descr="A green circle with a white tick in it&#10;&#10;AI-generated content may be incorrect.">
            <a:extLst>
              <a:ext uri="{FF2B5EF4-FFF2-40B4-BE49-F238E27FC236}">
                <a16:creationId xmlns:a16="http://schemas.microsoft.com/office/drawing/2014/main" id="{B04C9F14-8AAF-5B5A-CA97-AD494E0DE1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4463" y="4912683"/>
            <a:ext cx="339198" cy="339198"/>
          </a:xfrm>
          <a:prstGeom prst="rect">
            <a:avLst/>
          </a:prstGeom>
        </p:spPr>
      </p:pic>
      <p:pic>
        <p:nvPicPr>
          <p:cNvPr id="169" name="Picture 168" descr="A green circle with a white tick in it&#10;&#10;AI-generated content may be incorrect.">
            <a:extLst>
              <a:ext uri="{FF2B5EF4-FFF2-40B4-BE49-F238E27FC236}">
                <a16:creationId xmlns:a16="http://schemas.microsoft.com/office/drawing/2014/main" id="{AC1F40AB-8E62-FB82-7590-CE0E427673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8924" y="1507423"/>
            <a:ext cx="339198" cy="33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6624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"/>
          <p:cNvSpPr txBox="1"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161" name="Google Shape;161;p8"/>
          <p:cNvSpPr txBox="1"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850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dirty="0"/>
              <a:t>Yi-Chun (Rimi) Chen</a:t>
            </a: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dirty="0"/>
              <a:t>984-500-8488</a:t>
            </a: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dirty="0">
                <a:hlinkClick r:id="rId3"/>
              </a:rPr>
              <a:t>ychen74@alumni.ncsu.edu</a:t>
            </a:r>
            <a:endParaRPr lang="en-US" dirty="0"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dirty="0">
                <a:hlinkClick r:id="rId4"/>
              </a:rPr>
              <a:t>yi-chun.chen@yale.edu</a:t>
            </a:r>
            <a:endParaRPr lang="en-US" dirty="0"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dirty="0"/>
          </a:p>
        </p:txBody>
      </p:sp>
      <p:sp>
        <p:nvSpPr>
          <p:cNvPr id="162" name="Google Shape;162;p8"/>
          <p:cNvSpPr txBox="1">
            <a:spLocks noGrp="1"/>
          </p:cNvSpPr>
          <p:nvPr>
            <p:ph type="sldNum" idx="12"/>
          </p:nvPr>
        </p:nvSpPr>
        <p:spPr>
          <a:xfrm>
            <a:off x="9579428" y="6356350"/>
            <a:ext cx="17743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1261</TotalTime>
  <Words>359</Words>
  <Application>Microsoft Office PowerPoint</Application>
  <PresentationFormat>Widescreen</PresentationFormat>
  <Paragraphs>122</Paragraphs>
  <Slides>13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Tenorite</vt:lpstr>
      <vt:lpstr>Custom</vt:lpstr>
      <vt:lpstr>DISCUSSION 2025 MAY</vt:lpstr>
      <vt:lpstr>Revision history</vt:lpstr>
      <vt:lpstr>Summary of last week </vt:lpstr>
      <vt:lpstr>Codebook Visualizations</vt:lpstr>
      <vt:lpstr>Codebook Analysis</vt:lpstr>
      <vt:lpstr>Working on </vt:lpstr>
      <vt:lpstr>Data analysis</vt:lpstr>
      <vt:lpstr>Stats</vt:lpstr>
      <vt:lpstr>Stats</vt:lpstr>
      <vt:lpstr>Sentence Slicing</vt:lpstr>
      <vt:lpstr>Sub-sentence Slicing (clause-level)</vt:lpstr>
      <vt:lpstr>Data preprocessing for analysis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Yi-Chun Chen</dc:creator>
  <cp:lastModifiedBy>Yi-Chun Chen</cp:lastModifiedBy>
  <cp:revision>20</cp:revision>
  <dcterms:created xsi:type="dcterms:W3CDTF">2025-04-30T13:06:45Z</dcterms:created>
  <dcterms:modified xsi:type="dcterms:W3CDTF">2025-05-21T15:44:50Z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