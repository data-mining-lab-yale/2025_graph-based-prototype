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5" r:id="rId5"/>
    <p:sldId id="266" r:id="rId6"/>
    <p:sldId id="270" r:id="rId7"/>
    <p:sldId id="272" r:id="rId8"/>
    <p:sldId id="271" r:id="rId9"/>
    <p:sldId id="267" r:id="rId10"/>
    <p:sldId id="273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Vn8mPSx/aTw3jscTe6Qmh6Ya4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882BC2-12C2-47DE-AB68-3603F239A5B8}">
  <a:tblStyle styleId="{AA882BC2-12C2-47DE-AB68-3603F239A5B8}" styleName="Table_0">
    <a:wholeTbl>
      <a:tcTxStyle b="off" i="off">
        <a:font>
          <a:latin typeface="Tenorite"/>
          <a:ea typeface="Tenorite"/>
          <a:cs typeface="Tenorite"/>
        </a:font>
        <a:schemeClr val="dk1"/>
      </a:tcTxStyle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enorite"/>
          <a:ea typeface="Tenorite"/>
          <a:cs typeface="Tenorite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27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1033188-C4C6-8217-39FE-EB6380EF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CE78324C-9868-636F-2FEA-80E8A8AE1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43BAAD64-5DAB-BA28-F5B4-A97E3218A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42A5B2E2-E2B0-3E69-EE91-DBD2E5E872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3187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252FC37-DD1D-0D92-1EA0-2771E030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42142C16-4C00-423D-E281-6ADB83507B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01CE7D5-7515-04D3-3E66-2CF7C2EF2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4553F909-C6F4-242D-BDC6-FEAA99F1BF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1605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01A64DF-B88F-5C8E-1767-201429E6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F7FB2A6-4986-8C4F-BD0F-4C988C938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1314FBD-625F-22FE-C7AE-E06F7731FE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9196CE75-B4E7-57DC-0D63-4DFADAEBFA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8360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91F3FF05-BD72-E262-902C-04D960CF0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843D00BD-20F6-EE07-662B-D4A3EE1B58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84DDBB6C-AD33-EC1B-A554-473E50B91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5F6BD4C0-0672-6136-4292-E3A318FCE1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8790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90FA786-81CF-9DBA-8DA0-63980887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9281B05B-3C9D-22D1-9BDD-AE539BCC6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DDA3356-7249-E62C-E5E4-482507D262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27D87681-13AB-91A1-D4C6-695B1B82F9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8701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" name="Google Shape;17;p10"/>
          <p:cNvPicPr preferRelativeResize="0"/>
          <p:nvPr/>
        </p:nvPicPr>
        <p:blipFill rotWithShape="1">
          <a:blip r:embed="rId2">
            <a:alphaModFix/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2">
  <p:cSld name="Table 2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11"/>
          <p:cNvGrpSpPr/>
          <p:nvPr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20" name="Google Shape;20;p11"/>
            <p:cNvCxnSpPr/>
            <p:nvPr/>
          </p:nvCxnSpPr>
          <p:spPr>
            <a:xfrm rot="10800000" flipH="1">
              <a:off x="0" y="0"/>
              <a:ext cx="259080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" name="Google Shape;21;p11"/>
            <p:cNvCxnSpPr/>
            <p:nvPr/>
          </p:nvCxnSpPr>
          <p:spPr>
            <a:xfrm flipH="1">
              <a:off x="0" y="0"/>
              <a:ext cx="704850" cy="102790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8382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 type="title">
  <p:cSld name="TITLE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1" name="Google Shape;5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1769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267200" y="6356350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type="obj">
  <p:cSld name="OBJECT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6"/>
          <p:cNvPicPr preferRelativeResize="0"/>
          <p:nvPr/>
        </p:nvPicPr>
        <p:blipFill rotWithShape="1">
          <a:blip r:embed="rId2">
            <a:alphaModFix/>
          </a:blip>
          <a:srcRect t="18301" r="28340" b="23070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1333500" y="2674013"/>
            <a:ext cx="2895600" cy="326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ftr" idx="11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2">
  <p:cSld name="Section Break 2">
    <p:bg>
      <p:bgPr>
        <a:solidFill>
          <a:schemeClr val="dk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2" name="Google Shape;62;p17"/>
          <p:cNvCxnSpPr/>
          <p:nvPr/>
        </p:nvCxnSpPr>
        <p:spPr>
          <a:xfrm>
            <a:off x="3990667" y="0"/>
            <a:ext cx="1126278" cy="251229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0" y="-5080"/>
            <a:ext cx="6576291" cy="68726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3">
  <p:cSld name="Section Break 3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6" name="Google Shape;6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28675"/>
            <a:ext cx="58769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2">
  <p:cSld name="Two Content 2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9" name="Google Shape;69;p19"/>
          <p:cNvGrpSpPr/>
          <p:nvPr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70" name="Google Shape;70;p19"/>
            <p:cNvCxnSpPr/>
            <p:nvPr/>
          </p:nvCxnSpPr>
          <p:spPr>
            <a:xfrm rot="10800000">
              <a:off x="7334250" y="0"/>
              <a:ext cx="4857750" cy="76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1" name="Google Shape;71;p19"/>
            <p:cNvCxnSpPr/>
            <p:nvPr/>
          </p:nvCxnSpPr>
          <p:spPr>
            <a:xfrm>
              <a:off x="11487150" y="0"/>
              <a:ext cx="704850" cy="17240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2" name="Google Shape;72;p19"/>
          <p:cNvSpPr txBox="1"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2"/>
          </p:nvPr>
        </p:nvSpPr>
        <p:spPr>
          <a:xfrm>
            <a:off x="1341120" y="3392035"/>
            <a:ext cx="2722880" cy="2907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eriod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arenR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lphaLcParenR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eriod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3"/>
          </p:nvPr>
        </p:nvSpPr>
        <p:spPr>
          <a:xfrm>
            <a:off x="4754881" y="2960877"/>
            <a:ext cx="5516880" cy="3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4"/>
          </p:nvPr>
        </p:nvSpPr>
        <p:spPr>
          <a:xfrm>
            <a:off x="4754881" y="3324859"/>
            <a:ext cx="5506720" cy="303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1333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20"/>
          <p:cNvCxnSpPr/>
          <p:nvPr/>
        </p:nvCxnSpPr>
        <p:spPr>
          <a:xfrm rot="10800000">
            <a:off x="3094182" y="0"/>
            <a:ext cx="1745673" cy="389774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>
            <a:spLocks noGrp="1"/>
          </p:cNvSpPr>
          <p:nvPr>
            <p:ph type="pic" idx="2"/>
          </p:nvPr>
        </p:nvSpPr>
        <p:spPr>
          <a:xfrm>
            <a:off x="-28230" y="-9144"/>
            <a:ext cx="5481955" cy="6876288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825500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1"/>
          </p:nvPr>
        </p:nvSpPr>
        <p:spPr>
          <a:xfrm>
            <a:off x="5453725" y="3660774"/>
            <a:ext cx="5907176" cy="2536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chemeClr val="accen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2"/>
          </p:nvPr>
        </p:nvSpPr>
        <p:spPr>
          <a:xfrm>
            <a:off x="838199" y="3154166"/>
            <a:ext cx="5733773" cy="303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3"/>
          </p:nvPr>
        </p:nvSpPr>
        <p:spPr>
          <a:xfrm>
            <a:off x="7887108" y="2705177"/>
            <a:ext cx="3943627" cy="44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4"/>
          </p:nvPr>
        </p:nvSpPr>
        <p:spPr>
          <a:xfrm>
            <a:off x="7887107" y="3164867"/>
            <a:ext cx="3943627" cy="3032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ftr" idx="11"/>
          </p:nvPr>
        </p:nvSpPr>
        <p:spPr>
          <a:xfrm>
            <a:off x="84398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22"/>
          <p:cNvPicPr preferRelativeResize="0"/>
          <p:nvPr/>
        </p:nvPicPr>
        <p:blipFill rotWithShape="1">
          <a:blip r:embed="rId2">
            <a:alphaModFix/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1">
  <p:cSld name="Table 1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1"/>
          </p:nvPr>
        </p:nvSpPr>
        <p:spPr>
          <a:xfrm>
            <a:off x="838200" y="2813049"/>
            <a:ext cx="3247662" cy="32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ftr" idx="11"/>
          </p:nvPr>
        </p:nvSpPr>
        <p:spPr>
          <a:xfrm>
            <a:off x="731615" y="6356349"/>
            <a:ext cx="38192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0" name="Google Shape;90;p21"/>
          <p:cNvGrpSpPr/>
          <p:nvPr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91" name="Google Shape;91;p21"/>
            <p:cNvCxnSpPr/>
            <p:nvPr/>
          </p:nvCxnSpPr>
          <p:spPr>
            <a:xfrm flipH="1">
              <a:off x="0" y="0"/>
              <a:ext cx="1238250" cy="310515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" name="Google Shape;92;p21"/>
            <p:cNvCxnSpPr/>
            <p:nvPr/>
          </p:nvCxnSpPr>
          <p:spPr>
            <a:xfrm flipH="1">
              <a:off x="0" y="0"/>
              <a:ext cx="2238376" cy="24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184427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1" r:id="rId9"/>
    <p:sldLayoutId id="214748366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DISCUSSION 2025 MAY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2400" dirty="0"/>
              <a:t>Revision history</a:t>
            </a:r>
            <a:endParaRPr sz="2400" dirty="0"/>
          </a:p>
        </p:txBody>
      </p:sp>
      <p:graphicFrame>
        <p:nvGraphicFramePr>
          <p:cNvPr id="114" name="Google Shape;114;p2"/>
          <p:cNvGraphicFramePr/>
          <p:nvPr>
            <p:extLst>
              <p:ext uri="{D42A27DB-BD31-4B8C-83A1-F6EECF244321}">
                <p14:modId xmlns:p14="http://schemas.microsoft.com/office/powerpoint/2010/main" val="2355020042"/>
              </p:ext>
            </p:extLst>
          </p:nvPr>
        </p:nvGraphicFramePr>
        <p:xfrm>
          <a:off x="838199" y="2111375"/>
          <a:ext cx="10389425" cy="4252598"/>
        </p:xfrm>
        <a:graphic>
          <a:graphicData uri="http://schemas.openxmlformats.org/drawingml/2006/table">
            <a:tbl>
              <a:tblPr firstRow="1" bandRow="1">
                <a:noFill/>
                <a:tableStyleId>{AA882BC2-12C2-47DE-AB68-3603F239A5B8}</a:tableStyleId>
              </a:tblPr>
              <a:tblGrid>
                <a:gridCol w="228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Updated date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Note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2025.05.12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Summary of topics from last week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2025.05.13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Short answer and explanations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2025.05.14 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Current plans: 1. Stages to divide the challenges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2025.05.15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Current plans: 2. Techs to survey &amp; why?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2025.05.16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Current plans: 3. Done so far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350795175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674555125"/>
                  </a:ext>
                </a:extLst>
              </a:tr>
            </a:tbl>
          </a:graphicData>
        </a:graphic>
      </p:graphicFrame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65C079-F4A4-199F-C4D6-5F0429F3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topics from last week</a:t>
            </a:r>
            <a:br>
              <a:rPr lang="en-US" sz="2800" b="0" i="0" u="none" strike="noStrike" cap="none" dirty="0">
                <a:solidFill>
                  <a:schemeClr val="bg1"/>
                </a:solidFill>
                <a:latin typeface="Tenorite"/>
                <a:sym typeface="Arial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2ED9-3AE3-4141-D15A-E4921E98B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Core challenges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88817-7B1C-4052-123C-1108DCF2D5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5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F6116406-E8C7-F5D5-4499-7ACDF7A7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91D0A9A-9F64-979E-3E0D-B646A7232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2400" dirty="0"/>
              <a:t>Core Challenges</a:t>
            </a:r>
            <a:endParaRPr sz="2400" dirty="0"/>
          </a:p>
        </p:txBody>
      </p:sp>
      <p:graphicFrame>
        <p:nvGraphicFramePr>
          <p:cNvPr id="114" name="Google Shape;114;p2">
            <a:extLst>
              <a:ext uri="{FF2B5EF4-FFF2-40B4-BE49-F238E27FC236}">
                <a16:creationId xmlns:a16="http://schemas.microsoft.com/office/drawing/2014/main" id="{4C2977A6-3432-575E-E4B1-7537C7A895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303815"/>
              </p:ext>
            </p:extLst>
          </p:nvPr>
        </p:nvGraphicFramePr>
        <p:xfrm>
          <a:off x="838199" y="2111375"/>
          <a:ext cx="10389425" cy="3061291"/>
        </p:xfrm>
        <a:graphic>
          <a:graphicData uri="http://schemas.openxmlformats.org/drawingml/2006/table">
            <a:tbl>
              <a:tblPr firstRow="1" bandRow="1">
                <a:noFill/>
                <a:tableStyleId>{AA882BC2-12C2-47DE-AB68-3603F239A5B8}</a:tableStyleId>
              </a:tblPr>
              <a:tblGrid>
                <a:gridCol w="3798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Problem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Challenge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(sub) Sentence-level CODE prediction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Requires understanding sentence meaning, context, and label hierarchy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2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Context-aware reasoning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A sentencer's meaning depends on prior/sibling sentences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Ambiguous sub-CODE membership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One sentence might relate to multiple sub-CODEs or partially fit multiple types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Graph-based structure modeling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Design message-level graphs to reason across sentence nodes and features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D2DB69D9-4368-776B-C252-8C892BE71C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676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409B-B998-52AD-A98B-50FCBEC62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2EC192-7B58-6DE4-4A9B-7C7DD0B57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i="0" u="none" strike="noStrike" cap="none" dirty="0">
                <a:solidFill>
                  <a:schemeClr val="bg1"/>
                </a:solidFill>
                <a:latin typeface="Tenorite"/>
                <a:sym typeface="Arial"/>
              </a:rPr>
              <a:t>Short answer and explanations</a:t>
            </a:r>
            <a:br>
              <a:rPr lang="en-US" sz="2800" b="0" i="0" u="none" strike="noStrike" cap="none" dirty="0">
                <a:solidFill>
                  <a:schemeClr val="bg1"/>
                </a:solidFill>
                <a:latin typeface="Tenorite"/>
                <a:sym typeface="Arial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F56AE-C3E8-0D45-CE0D-852B74469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Graph structured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Stages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4051A-E4EF-641E-FAD5-A7A2405FA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7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68159B9-DA1A-DC37-1434-45AA67EC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236C278E-F8F6-E7C9-0F63-C4E8EF3D2E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" name="Google Shape;121;p3">
            <a:extLst>
              <a:ext uri="{FF2B5EF4-FFF2-40B4-BE49-F238E27FC236}">
                <a16:creationId xmlns:a16="http://schemas.microsoft.com/office/drawing/2014/main" id="{502F208B-C310-07CE-B585-54F8C54F44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dirty="0"/>
              <a:t>How can we transform each message into a structured graph that captures:</a:t>
            </a:r>
          </a:p>
        </p:txBody>
      </p:sp>
      <p:sp>
        <p:nvSpPr>
          <p:cNvPr id="8" name="Google Shape;122;p3">
            <a:extLst>
              <a:ext uri="{FF2B5EF4-FFF2-40B4-BE49-F238E27FC236}">
                <a16:creationId xmlns:a16="http://schemas.microsoft.com/office/drawing/2014/main" id="{0324DD19-7C39-0C49-CEAA-083E117DA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101076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Sentential composition (AMR parsing (e.g., SPRING), Discourse edges between sentences)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Semantic entities (</a:t>
            </a:r>
            <a:r>
              <a:rPr lang="en-US" sz="1600" b="0" dirty="0" err="1"/>
              <a:t>scispaCy</a:t>
            </a:r>
            <a:r>
              <a:rPr lang="en-US" sz="1600" b="0" dirty="0"/>
              <a:t> / </a:t>
            </a:r>
            <a:r>
              <a:rPr lang="en-US" sz="1600" b="0" dirty="0" err="1"/>
              <a:t>MedSpaCy</a:t>
            </a:r>
            <a:r>
              <a:rPr lang="en-US" sz="1600" b="0" dirty="0"/>
              <a:t> for medical NER, </a:t>
            </a:r>
            <a:r>
              <a:rPr lang="en-US" sz="1600" b="0" dirty="0" err="1"/>
              <a:t>KeyBERT</a:t>
            </a:r>
            <a:r>
              <a:rPr lang="en-US" sz="1600" b="0" dirty="0"/>
              <a:t> for topic keywords)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Speaker role/ Functions (Speaker metadata → edge labels Typed edges (e.g., patient → provider))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CODE/sub-CODE candidates (Hierarchical classifier (e.g., flat + tree decoder) Label attention over graph nodes)</a:t>
            </a:r>
          </a:p>
        </p:txBody>
      </p:sp>
    </p:spTree>
    <p:extLst>
      <p:ext uri="{BB962C8B-B14F-4D97-AF65-F5344CB8AC3E}">
        <p14:creationId xmlns:p14="http://schemas.microsoft.com/office/powerpoint/2010/main" val="238160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509B-EA7D-14F5-D2C7-991430C9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10270329" cy="1917700"/>
          </a:xfrm>
        </p:spPr>
        <p:txBody>
          <a:bodyPr/>
          <a:lstStyle/>
          <a:p>
            <a:r>
              <a:rPr lang="en-US" dirty="0"/>
              <a:t>Similarity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A67C3-AC55-5079-CA33-989D75122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2813049"/>
            <a:ext cx="10270331" cy="3238499"/>
          </a:xfrm>
        </p:spPr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Semantic similarity (e.g., embeddings)? (Sentence embeddings via SBERT / </a:t>
            </a:r>
            <a:r>
              <a:rPr lang="en-US" sz="1600" dirty="0" err="1"/>
              <a:t>ClinicalBERT</a:t>
            </a:r>
            <a:r>
              <a:rPr lang="en-US" sz="1600" dirty="0"/>
              <a:t> Concept overlap in AMR subgraphs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Structural similarity (e.g., graph topology)? ) (</a:t>
            </a:r>
            <a:r>
              <a:rPr lang="en-US" sz="1600" dirty="0" err="1"/>
              <a:t>SimGNN</a:t>
            </a:r>
            <a:r>
              <a:rPr lang="en-US" sz="1600" dirty="0"/>
              <a:t> Subgraph edit distance / WL kernel)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Role/context-aware similarity? (Relational GCNs with speaker edge types Contextualized node embeddings)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6C954-B0F6-74A2-5CD7-17BB37ABAF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7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897BA4F-28FA-D992-4A6E-57EDEF77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7228A79E-D8EF-A4B9-E013-B6AB2A64A6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7" name="Google Shape;121;p3">
            <a:extLst>
              <a:ext uri="{FF2B5EF4-FFF2-40B4-BE49-F238E27FC236}">
                <a16:creationId xmlns:a16="http://schemas.microsoft.com/office/drawing/2014/main" id="{4BF3907B-A22A-78DA-164A-B80B03D0F0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2400" b="0" dirty="0"/>
              <a:t>Fine-Grained Annotation Representation</a:t>
            </a:r>
          </a:p>
        </p:txBody>
      </p:sp>
      <p:sp>
        <p:nvSpPr>
          <p:cNvPr id="8" name="Google Shape;122;p3">
            <a:extLst>
              <a:ext uri="{FF2B5EF4-FFF2-40B4-BE49-F238E27FC236}">
                <a16:creationId xmlns:a16="http://schemas.microsoft.com/office/drawing/2014/main" id="{0DDE4AD1-5971-5962-89EE-A61C6FF2DB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101076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/>
              <a:t>Sub-sentence segmentation (</a:t>
            </a:r>
            <a:r>
              <a:rPr lang="en-US" sz="1600" dirty="0" err="1"/>
              <a:t>benepar</a:t>
            </a:r>
            <a:r>
              <a:rPr lang="en-US" sz="1600" dirty="0"/>
              <a:t> (constituency parser) RST / EDU segmentation (e.g., DPLP, </a:t>
            </a:r>
            <a:r>
              <a:rPr lang="en-US" sz="1600" dirty="0" err="1"/>
              <a:t>DiscoPy</a:t>
            </a:r>
            <a:r>
              <a:rPr lang="en-US" sz="1600" dirty="0"/>
              <a:t>))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b="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How can we segment and represent a sentence when different parts map to different sub-CODEs?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dirty="0"/>
              <a:t>Do we need a phrase-level or clause-level granularity for accurate annotation?</a:t>
            </a:r>
          </a:p>
        </p:txBody>
      </p:sp>
    </p:spTree>
    <p:extLst>
      <p:ext uri="{BB962C8B-B14F-4D97-AF65-F5344CB8AC3E}">
        <p14:creationId xmlns:p14="http://schemas.microsoft.com/office/powerpoint/2010/main" val="186557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3D0274AE-E091-E5B3-C894-436981E3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DA14A762-C131-7585-243E-B58C0C803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2400" dirty="0"/>
              <a:t>Incremental Stages</a:t>
            </a:r>
            <a:endParaRPr sz="2400" dirty="0"/>
          </a:p>
        </p:txBody>
      </p:sp>
      <p:graphicFrame>
        <p:nvGraphicFramePr>
          <p:cNvPr id="114" name="Google Shape;114;p2">
            <a:extLst>
              <a:ext uri="{FF2B5EF4-FFF2-40B4-BE49-F238E27FC236}">
                <a16:creationId xmlns:a16="http://schemas.microsoft.com/office/drawing/2014/main" id="{A1E599BF-358E-A09D-3CE6-BC45F4BEE3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4524264"/>
              </p:ext>
            </p:extLst>
          </p:nvPr>
        </p:nvGraphicFramePr>
        <p:xfrm>
          <a:off x="838199" y="2111375"/>
          <a:ext cx="10389426" cy="3185307"/>
        </p:xfrm>
        <a:graphic>
          <a:graphicData uri="http://schemas.openxmlformats.org/drawingml/2006/table">
            <a:tbl>
              <a:tblPr firstRow="1" bandRow="1">
                <a:noFill/>
                <a:tableStyleId>{AA882BC2-12C2-47DE-AB68-3603F239A5B8}</a:tableStyleId>
              </a:tblPr>
              <a:tblGrid>
                <a:gridCol w="1674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37">
                  <a:extLst>
                    <a:ext uri="{9D8B030D-6E8A-4147-A177-3AD203B41FA5}">
                      <a16:colId xmlns:a16="http://schemas.microsoft.com/office/drawing/2014/main" val="3727401978"/>
                    </a:ext>
                  </a:extLst>
                </a:gridCol>
                <a:gridCol w="2905137">
                  <a:extLst>
                    <a:ext uri="{9D8B030D-6E8A-4147-A177-3AD203B41FA5}">
                      <a16:colId xmlns:a16="http://schemas.microsoft.com/office/drawing/2014/main" val="4156901240"/>
                    </a:ext>
                  </a:extLst>
                </a:gridCol>
              </a:tblGrid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dirty="0"/>
                        <a:t>Stage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/>
                        <a:t>Focus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Goal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Deliverable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Stage 1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Graph-based sentence classification (w/ hierarchy)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Build sentence-level graphs per message; predict CODE+ sub-CODE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Prototype</a:t>
                      </a:r>
                      <a:endParaRPr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2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Stage 2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Integrate context + role/function info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Use edges for speaker role, temporal order, semantic similarity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Compare baseline vs. graph-aware predictions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Stage 3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Multi-label + ambiguous code modeling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Allow overlapping sub-CODEs; model soft label assignments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Extend classifier + graph attention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enorite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5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Stage 4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Discourse/narrative-level reasoning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Include sentence relations like “support”, “reference”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enorite"/>
                          <a:sym typeface="Arial"/>
                        </a:rPr>
                        <a:t>Discourse-aware GNN or LLM-graph hybrid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B8654C0B-EB90-EA4F-A71D-FB1251E2E4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373350" y="6356349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8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5974B90-B43A-45F8-9324-AAB27BE5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69A476B0-DE7F-5B73-A55E-617A278F18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7" name="Google Shape;121;p3">
            <a:extLst>
              <a:ext uri="{FF2B5EF4-FFF2-40B4-BE49-F238E27FC236}">
                <a16:creationId xmlns:a16="http://schemas.microsoft.com/office/drawing/2014/main" id="{02A33734-2B99-DF69-1FF6-2B283B3F8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2400" b="0" dirty="0"/>
              <a:t>Fine-Grained Annotation Representation</a:t>
            </a:r>
          </a:p>
        </p:txBody>
      </p:sp>
      <p:sp>
        <p:nvSpPr>
          <p:cNvPr id="8" name="Google Shape;122;p3">
            <a:extLst>
              <a:ext uri="{FF2B5EF4-FFF2-40B4-BE49-F238E27FC236}">
                <a16:creationId xmlns:a16="http://schemas.microsoft.com/office/drawing/2014/main" id="{6E62D47D-55BF-E803-4551-972CEAB55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22388" y="2763078"/>
            <a:ext cx="10107612" cy="340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600" dirty="0"/>
              <a:t>Confirm dataset structure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/>
              <a:t>Are CODEs and sub-CODEs available at the sentence level?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/>
              <a:t>Do annotations span across clauses or phrases inside a sentence?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600" dirty="0"/>
              <a:t>Collect a small, annotated subset (100–300 messages)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/>
              <a:t>Each message should include sentence splits and labels.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6483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Yi-Chun (Rimi) Chen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984-500-8488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ychen74@alumni.ncsu.edu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  <p:sp>
        <p:nvSpPr>
          <p:cNvPr id="162" name="Google Shape;162;p8"/>
          <p:cNvSpPr txBox="1">
            <a:spLocks noGrp="1"/>
          </p:cNvSpPr>
          <p:nvPr>
            <p:ph type="sldNum" idx="12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501</Words>
  <Application>Microsoft Office PowerPoint</Application>
  <PresentationFormat>Widescreen</PresentationFormat>
  <Paragraphs>98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DISCUSSION 2025 MAY</vt:lpstr>
      <vt:lpstr>Revision history</vt:lpstr>
      <vt:lpstr>Summary of topics from last week </vt:lpstr>
      <vt:lpstr>Core Challenges</vt:lpstr>
      <vt:lpstr>Short answer and explanations </vt:lpstr>
      <vt:lpstr>How can we transform each message into a structured graph that captures:</vt:lpstr>
      <vt:lpstr>Similarity Definition</vt:lpstr>
      <vt:lpstr>Fine-Grained Annotation Representation</vt:lpstr>
      <vt:lpstr>Incremental Stages</vt:lpstr>
      <vt:lpstr>Fine-Grained Annotation Representation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Yi-Chun Chen</dc:creator>
  <cp:lastModifiedBy>Yi-Chun Chen</cp:lastModifiedBy>
  <cp:revision>16</cp:revision>
  <dcterms:created xsi:type="dcterms:W3CDTF">2025-04-30T13:06:45Z</dcterms:created>
  <dcterms:modified xsi:type="dcterms:W3CDTF">2025-05-16T16:51:14Z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